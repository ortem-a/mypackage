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78" r:id="rId2"/>
    <p:sldId id="257" r:id="rId3"/>
    <p:sldId id="266" r:id="rId4"/>
    <p:sldId id="274" r:id="rId5"/>
    <p:sldId id="277" r:id="rId6"/>
    <p:sldId id="275" r:id="rId7"/>
  </p:sldIdLst>
  <p:sldSz cx="12190413" cy="6859588"/>
  <p:notesSz cx="6858000" cy="9144000"/>
  <p:defaultTextStyle>
    <a:defPPr>
      <a:defRPr lang="ru-RU"/>
    </a:defPPr>
    <a:lvl1pPr marL="0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565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165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765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365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330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5930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530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313" autoAdjust="0"/>
  </p:normalViewPr>
  <p:slideViewPr>
    <p:cSldViewPr>
      <p:cViewPr varScale="1">
        <p:scale>
          <a:sx n="67" d="100"/>
          <a:sy n="67" d="100"/>
        </p:scale>
        <p:origin x="1190" y="62"/>
      </p:cViewPr>
      <p:guideLst>
        <p:guide orient="horz" pos="216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A5D75-65A6-45CF-B8A8-D293EE720A3B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B4E936-F114-4930-902A-E5DF2A2255C6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565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165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765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365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33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593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53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Титульный</a:t>
            </a:r>
            <a:r>
              <a:rPr lang="ru-RU" baseline="0" smtClean="0"/>
              <a:t> лист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200" b="1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Введение</a:t>
                </a:r>
              </a:p>
              <a:p>
                <a:r>
                  <a:rPr lang="en-US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 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– язык программирования для статистической обработки данных и работы с графикой. Основным преимуществом данного языка являются пользовательские пакеты, разработанные другими программистами, как одиночками, так и компаниями. 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 языке программирования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основной единицей совместно используемого кода является пакет. Он объединяет код, данные, документацию и тесты, и им легко поделиться с другими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-программистами. По состоянию на 2019 год доступно более 14 тысяч пакетов в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Comprehensive R Archive Network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или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CRAN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общедоступной информационной палате для пакетов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Такое огромное разнообразие пакетов и большое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комьюнити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rPr>
                      <m:t>–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это причины успеха языка программирования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Таким образом, велика вероятность того, что кто-то уже решил проблему, над которой вы работаете, и для ее разрешения достаточно всего лишь загрузить пакет. Поэтому тема данной курсовой работы является актуальной для сферы обработки статистических данных с использованием языка программирования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endParaRPr lang="ru-RU" dirty="0" smtClean="0"/>
              </a:p>
              <a:p>
                <a:r>
                  <a:rPr lang="ru-RU" dirty="0" smtClean="0"/>
                  <a:t>На данном</a:t>
                </a:r>
                <a:r>
                  <a:rPr lang="ru-RU" baseline="0" dirty="0" smtClean="0"/>
                  <a:t> слайде показаны цель и задачи, решаемые в ходе выполнения курсовой работы. </a:t>
                </a:r>
                <a:endParaRPr lang="ru-RU" dirty="0"/>
              </a:p>
            </p:txBody>
          </p:sp>
        </mc:Choice>
        <mc:Fallback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200" b="1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Введение</a:t>
                </a:r>
              </a:p>
              <a:p>
                <a:r>
                  <a:rPr lang="en-US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 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– язык программирования для статистической обработки данных и работы с графикой. Основным преимуществом данного языка являются пользовательские пакеты, разработанные другими программистами, как одиночками, так и компаниями. 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 языке программирования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основной единицей совместно используемого кода является пакет. Он объединяет код, данные, документацию и тесты, и им легко поделиться с другими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-программистами. По состоянию на 2019 год доступно более 14 тысяч пакетов в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Comprehensive R Archive Network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или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CRAN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общедоступной информационной палате для пакетов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Такое огромное разнообразие пакетов и большое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комьюнити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–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это причины успеха языка программирования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Таким образом, велика вероятность того, что кто-то уже решил проблему, над которой вы работаете, и для ее разрешения достаточно всего лишь загрузить пакет. Поэтому тема данной курсовой работы является актуальной для сферы обработки статистических данных с использованием языка программирования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endParaRPr lang="ru-RU" dirty="0" smtClean="0"/>
              </a:p>
              <a:p>
                <a:r>
                  <a:rPr lang="ru-RU" dirty="0" smtClean="0"/>
                  <a:t>На данном</a:t>
                </a:r>
                <a:r>
                  <a:rPr lang="ru-RU" baseline="0" dirty="0" smtClean="0"/>
                  <a:t> слайде показаны цель и задачи, решаемые в ходе выполнения курсовой работы. </a:t>
                </a:r>
                <a:endParaRPr lang="ru-RU" dirty="0"/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2</a:t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Тут текст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Язык программирования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создавался специально для анализа данных, поэтому многие функции для анализа данных являются встроенными. Их много, но задач и способов применения еще больше. Поэтому главное достоинство языка состоит в возможности разрабатывать пользовательские пакеты для решения определенных задач. </a:t>
            </a:r>
          </a:p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Сфера применения языка только растет. Разрабатывается все больше пакетов, функционал которых позволяет решать самые разнообразные задачи: от визуализации данных до помощи в разработке других пакетов.</a:t>
            </a:r>
          </a:p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необходимо отметить, что одни пакеты могут служить в роли «кирпичиков» при разработке других. Поэтому тема разработки пакетов на языке программирования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остается актуальной.</a:t>
            </a:r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(на слайде) достигнута. В ходе выполнения курсового проекта выполнены следующие задачи: (на слайде).</a:t>
            </a: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5</a:t>
            </a:fld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Спасибо</a:t>
            </a:r>
            <a:r>
              <a:rPr lang="ru-RU" baseline="0" dirty="0" smtClean="0"/>
              <a:t> за внимание!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6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711108" y="1371918"/>
            <a:ext cx="10467501" cy="1829223"/>
          </a:xfrm>
          <a:ln>
            <a:noFill/>
          </a:ln>
        </p:spPr>
        <p:txBody>
          <a:bodyPr vert="horz" tIns="0" rIns="24377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75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711107" y="3229283"/>
            <a:ext cx="10471565" cy="1753006"/>
          </a:xfrm>
        </p:spPr>
        <p:txBody>
          <a:bodyPr lIns="0" rIns="24377"/>
          <a:lstStyle>
            <a:lvl1pPr marL="0" marR="60960" indent="0" algn="r">
              <a:buNone/>
              <a:defRPr>
                <a:solidFill>
                  <a:schemeClr val="tx1"/>
                </a:solidFill>
              </a:defRPr>
            </a:lvl1pPr>
            <a:lvl2pPr marL="609600" indent="0" algn="ctr">
              <a:buNone/>
            </a:lvl2pPr>
            <a:lvl3pPr marL="1218565" indent="0" algn="ctr">
              <a:buNone/>
            </a:lvl3pPr>
            <a:lvl4pPr marL="1828165" indent="0" algn="ctr">
              <a:buNone/>
            </a:lvl4pPr>
            <a:lvl5pPr marL="2437765" indent="0" algn="ctr">
              <a:buNone/>
            </a:lvl5pPr>
            <a:lvl6pPr marL="3047365" indent="0" algn="ctr">
              <a:buNone/>
            </a:lvl6pPr>
            <a:lvl7pPr marL="3656330" indent="0" algn="ctr">
              <a:buNone/>
            </a:lvl7pPr>
            <a:lvl8pPr marL="4265930" indent="0" algn="ctr">
              <a:buNone/>
            </a:lvl8pPr>
            <a:lvl9pPr marL="487553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7044" y="1317042"/>
            <a:ext cx="10361851" cy="1362771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75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044" y="2705291"/>
            <a:ext cx="10361851" cy="1510062"/>
          </a:xfrm>
        </p:spPr>
        <p:txBody>
          <a:bodyPr lIns="60941" rIns="60941" anchor="t"/>
          <a:lstStyle>
            <a:lvl1pPr marL="0" indent="0">
              <a:buNone/>
              <a:defRPr sz="2900">
                <a:solidFill>
                  <a:schemeClr val="tx1"/>
                </a:solidFill>
              </a:defRPr>
            </a:lvl1pPr>
            <a:lvl2pPr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21" y="704251"/>
            <a:ext cx="10971372" cy="1143265"/>
          </a:xfrm>
        </p:spPr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21" y="1920530"/>
            <a:ext cx="5384099" cy="4435867"/>
          </a:xfrm>
        </p:spPr>
        <p:txBody>
          <a:bodyPr/>
          <a:lstStyle>
            <a:lvl1pPr>
              <a:defRPr sz="35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6793" y="1920530"/>
            <a:ext cx="5384099" cy="4435867"/>
          </a:xfrm>
        </p:spPr>
        <p:txBody>
          <a:bodyPr/>
          <a:lstStyle>
            <a:lvl1pPr>
              <a:defRPr sz="35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21" y="704251"/>
            <a:ext cx="10971372" cy="1143265"/>
          </a:xfrm>
        </p:spPr>
        <p:txBody>
          <a:bodyPr tIns="60941" anchor="b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21" y="1855677"/>
            <a:ext cx="5386216" cy="659505"/>
          </a:xfrm>
        </p:spPr>
        <p:txBody>
          <a:bodyPr lIns="60941" tIns="0" rIns="60941" bIns="0" anchor="ctr">
            <a:noAutofit/>
          </a:bodyPr>
          <a:lstStyle>
            <a:lvl1pPr marL="0" indent="0">
              <a:buNone/>
              <a:defRPr sz="32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700" b="1"/>
            </a:lvl2pPr>
            <a:lvl3pPr>
              <a:buNone/>
              <a:defRPr sz="2400" b="1"/>
            </a:lvl3pPr>
            <a:lvl4pPr>
              <a:buNone/>
              <a:defRPr sz="2100" b="1"/>
            </a:lvl4pPr>
            <a:lvl5pPr>
              <a:buNone/>
              <a:defRPr sz="21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2565" y="1860188"/>
            <a:ext cx="5388332" cy="654994"/>
          </a:xfrm>
        </p:spPr>
        <p:txBody>
          <a:bodyPr lIns="60941" tIns="0" rIns="60941" bIns="0" anchor="ctr"/>
          <a:lstStyle>
            <a:lvl1pPr marL="0" indent="0">
              <a:buNone/>
              <a:defRPr sz="32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700" b="1"/>
            </a:lvl2pPr>
            <a:lvl3pPr>
              <a:buNone/>
              <a:defRPr sz="2400" b="1"/>
            </a:lvl3pPr>
            <a:lvl4pPr>
              <a:buNone/>
              <a:defRPr sz="2100" b="1"/>
            </a:lvl4pPr>
            <a:lvl5pPr>
              <a:buNone/>
              <a:defRPr sz="21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609521" y="2515183"/>
            <a:ext cx="5386216" cy="3846610"/>
          </a:xfrm>
        </p:spPr>
        <p:txBody>
          <a:bodyPr tIns="0"/>
          <a:lstStyle>
            <a:lvl1pPr>
              <a:defRPr sz="29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2565" y="2515183"/>
            <a:ext cx="5388332" cy="3846610"/>
          </a:xfrm>
        </p:spPr>
        <p:txBody>
          <a:bodyPr tIns="0"/>
          <a:lstStyle>
            <a:lvl1pPr>
              <a:defRPr sz="29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21" y="704251"/>
            <a:ext cx="11072958" cy="1143265"/>
          </a:xfrm>
        </p:spPr>
        <p:txBody>
          <a:bodyPr vert="horz" tIns="60941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67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281" y="514472"/>
            <a:ext cx="3657124" cy="116232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35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914281" y="1676788"/>
            <a:ext cx="3657124" cy="4573059"/>
          </a:xfrm>
        </p:spPr>
        <p:txBody>
          <a:bodyPr lIns="24377" rIns="24377"/>
          <a:lstStyle>
            <a:lvl1pPr marL="0" indent="0" algn="l">
              <a:buNone/>
              <a:defRPr sz="1900"/>
            </a:lvl1pPr>
            <a:lvl2pPr indent="0" algn="l">
              <a:buNone/>
              <a:defRPr sz="1600"/>
            </a:lvl2pPr>
            <a:lvl3pPr indent="0" algn="l">
              <a:buNone/>
              <a:defRPr sz="1300"/>
            </a:lvl3pPr>
            <a:lvl4pPr indent="0" algn="l">
              <a:buNone/>
              <a:defRPr sz="1200"/>
            </a:lvl4pPr>
            <a:lvl5pPr indent="0" algn="l">
              <a:buNone/>
              <a:defRPr sz="12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4766113" y="1676788"/>
            <a:ext cx="6814779" cy="4573059"/>
          </a:xfrm>
        </p:spPr>
        <p:txBody>
          <a:bodyPr tIns="0"/>
          <a:lstStyle>
            <a:lvl1pPr>
              <a:defRPr sz="3700"/>
            </a:lvl1pPr>
            <a:lvl2pPr>
              <a:defRPr sz="3500"/>
            </a:lvl2pPr>
            <a:lvl3pPr>
              <a:defRPr sz="3200"/>
            </a:lvl3pPr>
            <a:lvl4pPr>
              <a:defRPr sz="2700"/>
            </a:lvl4pPr>
            <a:lvl5pPr>
              <a:defRPr sz="24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nip and Round Single Corner Rectangle 8"/>
          <p:cNvSpPr/>
          <p:nvPr/>
        </p:nvSpPr>
        <p:spPr>
          <a:xfrm rot="420000" flipV="1">
            <a:off x="4220456" y="1108334"/>
            <a:ext cx="7009487" cy="4115753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82" tIns="60941" rIns="121882" bIns="60941"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ight Triangle 11"/>
          <p:cNvSpPr/>
          <p:nvPr/>
        </p:nvSpPr>
        <p:spPr>
          <a:xfrm rot="420000" flipV="1">
            <a:off x="10670791" y="5361010"/>
            <a:ext cx="207237" cy="155484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82" tIns="60941" rIns="121882" bIns="60941"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694" y="1177268"/>
            <a:ext cx="2950080" cy="1582988"/>
          </a:xfrm>
        </p:spPr>
        <p:txBody>
          <a:bodyPr vert="horz" lIns="60941" tIns="60941" rIns="60941" bIns="60941" anchor="b"/>
          <a:lstStyle>
            <a:lvl1pPr algn="l">
              <a:buNone/>
              <a:defRPr sz="2700" b="1">
                <a:solidFill>
                  <a:schemeClr val="tx2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2694" y="2829440"/>
            <a:ext cx="2946016" cy="2179825"/>
          </a:xfrm>
        </p:spPr>
        <p:txBody>
          <a:bodyPr lIns="85319" rIns="60941" bIns="60941" anchor="t"/>
          <a:lstStyle>
            <a:lvl1pPr marL="0" indent="0" algn="l">
              <a:spcBef>
                <a:spcPts val="335"/>
              </a:spcBef>
              <a:buFontTx/>
              <a:buNone/>
              <a:defRPr sz="1700"/>
            </a:lvl1pPr>
            <a:lvl2pPr>
              <a:defRPr sz="1600"/>
            </a:lvl2pPr>
            <a:lvl3pPr>
              <a:defRPr sz="1300"/>
            </a:lvl3pPr>
            <a:lvl4pPr>
              <a:defRPr sz="1200"/>
            </a:lvl4pPr>
            <a:lvl5pPr>
              <a:defRPr sz="12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68198" y="6357822"/>
            <a:ext cx="812694" cy="365210"/>
          </a:xfrm>
        </p:spPr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420000">
            <a:off x="4647119" y="1199795"/>
            <a:ext cx="6156159" cy="393283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43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10" name="Freeform 9"/>
          <p:cNvSpPr/>
          <p:nvPr/>
        </p:nvSpPr>
        <p:spPr bwMode="auto">
          <a:xfrm flipV="1">
            <a:off x="-12699" y="5817947"/>
            <a:ext cx="12215810" cy="104164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21882" tIns="60941" rIns="121882" bIns="60941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Freeform 10"/>
          <p:cNvSpPr/>
          <p:nvPr/>
        </p:nvSpPr>
        <p:spPr bwMode="auto">
          <a:xfrm flipV="1">
            <a:off x="5841240" y="6221269"/>
            <a:ext cx="6349173" cy="63832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21882" tIns="60941" rIns="121882" bIns="60941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049" y="914613"/>
            <a:ext cx="2742843" cy="5212969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21" y="914613"/>
            <a:ext cx="8025355" cy="5212969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-12699" y="-7146"/>
            <a:ext cx="12215810" cy="104164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21882" tIns="60941" rIns="121882" bIns="60941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reeform 7"/>
          <p:cNvSpPr/>
          <p:nvPr/>
        </p:nvSpPr>
        <p:spPr bwMode="auto">
          <a:xfrm>
            <a:off x="5841240" y="-7141"/>
            <a:ext cx="6349173" cy="63832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21882" tIns="60941" rIns="121882" bIns="60941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609521" y="704251"/>
            <a:ext cx="10971372" cy="1143265"/>
          </a:xfrm>
          <a:prstGeom prst="rect">
            <a:avLst/>
          </a:prstGeom>
        </p:spPr>
        <p:txBody>
          <a:bodyPr vert="horz" lIns="0" tIns="60941" rIns="0" bIns="0" anchor="b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609521" y="1935928"/>
            <a:ext cx="10971372" cy="4390136"/>
          </a:xfrm>
          <a:prstGeom prst="rect">
            <a:avLst/>
          </a:prstGeom>
        </p:spPr>
        <p:txBody>
          <a:bodyPr vert="horz" lIns="121882" tIns="60941" rIns="121882" bIns="60941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09521" y="6357822"/>
            <a:ext cx="2844430" cy="365210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73CDA8E4-2F89-47B8-98E4-9AC1AEF737F3}" type="datetimeFigureOut">
              <a:rPr lang="ru-RU" smtClean="0"/>
              <a:t>31.05.2021</a:t>
            </a:fld>
            <a:endParaRPr lang="ru-RU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3555539" y="6357822"/>
            <a:ext cx="4469818" cy="365210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10565024" y="6357822"/>
            <a:ext cx="1015868" cy="365210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  <p:grpSp>
        <p:nvGrpSpPr>
          <p:cNvPr id="2" name="Group 1"/>
          <p:cNvGrpSpPr/>
          <p:nvPr/>
        </p:nvGrpSpPr>
        <p:grpSpPr>
          <a:xfrm>
            <a:off x="-25350" y="202456"/>
            <a:ext cx="12239137" cy="649374"/>
            <a:chOff x="-19045" y="216550"/>
            <a:chExt cx="9180548" cy="649224"/>
          </a:xfrm>
        </p:grpSpPr>
        <p:sp>
          <p:nvSpPr>
            <p:cNvPr id="12" name="Freeform 11"/>
            <p:cNvSpPr/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Freeform 12"/>
            <p:cNvSpPr/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latinLnBrk="0" hangingPunct="1">
        <a:spcBef>
          <a:spcPct val="0"/>
        </a:spcBef>
        <a:buNone/>
        <a:defRPr kumimoji="0" sz="67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65760" indent="-36576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53440" indent="-328930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565" indent="-328930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584325" indent="-280035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1950085" indent="-280035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2315845" indent="-280035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2559685" indent="-24384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21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25445" indent="-243840" algn="l" rtl="0" eaLnBrk="1" latinLnBrk="0" hangingPunct="1">
        <a:spcBef>
          <a:spcPct val="20000"/>
        </a:spcBef>
        <a:buClr>
          <a:schemeClr val="tx2"/>
        </a:buClr>
        <a:buChar char="•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3290570" indent="-24384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9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121856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82816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243776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304736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365633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426593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487553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Рисунок 35" descr="Изображение выглядит как текст&#10;&#10;Автоматически созданное описание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635524" y="189434"/>
            <a:ext cx="919369" cy="103997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Текстовое поле 99"/>
          <p:cNvSpPr txBox="1"/>
          <p:nvPr/>
        </p:nvSpPr>
        <p:spPr>
          <a:xfrm>
            <a:off x="4257961" y="1269554"/>
            <a:ext cx="3674494" cy="369322"/>
          </a:xfrm>
          <a:prstGeom prst="rect">
            <a:avLst/>
          </a:prstGeom>
          <a:noFill/>
          <a:ln w="9525">
            <a:noFill/>
          </a:ln>
        </p:spPr>
        <p:txBody>
          <a:bodyPr wrap="square" lIns="91430" tIns="45715" rIns="91430" bIns="45715">
            <a:spAutoFit/>
          </a:bodyPr>
          <a:lstStyle/>
          <a:p>
            <a:pPr indent="203200" algn="ctr"/>
            <a:r>
              <a:rPr lang="en-US" sz="1800" dirty="0">
                <a:latin typeface="Times New Roman" panose="02020603050405020304" charset="0"/>
              </a:rPr>
              <a:t>МИНОБРНАУКИ РОССИИ</a:t>
            </a:r>
            <a:endParaRPr lang="ru-RU" altLang="en-US" sz="1800" dirty="0"/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1976556" y="1638876"/>
            <a:ext cx="8229163" cy="1200318"/>
          </a:xfrm>
          <a:prstGeom prst="rect">
            <a:avLst/>
          </a:prstGeom>
          <a:noFill/>
          <a:ln w="9525">
            <a:noFill/>
          </a:ln>
        </p:spPr>
        <p:txBody>
          <a:bodyPr wrap="square" lIns="91430" tIns="45715" rIns="91430" bIns="45715">
            <a:spAutoFit/>
          </a:bodyPr>
          <a:lstStyle/>
          <a:p>
            <a:pPr indent="203200" algn="ctr"/>
            <a:r>
              <a:rPr lang="en-US" sz="1800" dirty="0" err="1">
                <a:latin typeface="Times New Roman" panose="02020603050405020304" charset="0"/>
              </a:rPr>
              <a:t>Федеральное</a:t>
            </a:r>
            <a:r>
              <a:rPr lang="en-US" sz="1800" dirty="0">
                <a:latin typeface="Times New Roman" panose="02020603050405020304" charset="0"/>
              </a:rPr>
              <a:t> </a:t>
            </a:r>
            <a:r>
              <a:rPr lang="en-US" sz="1800" dirty="0" err="1">
                <a:latin typeface="Times New Roman" panose="02020603050405020304" charset="0"/>
              </a:rPr>
              <a:t>государственное</a:t>
            </a:r>
            <a:r>
              <a:rPr lang="en-US" sz="1800" dirty="0">
                <a:latin typeface="Times New Roman" panose="02020603050405020304" charset="0"/>
              </a:rPr>
              <a:t> </a:t>
            </a:r>
            <a:r>
              <a:rPr lang="en-US" sz="1800" dirty="0" err="1">
                <a:latin typeface="Times New Roman" panose="02020603050405020304" charset="0"/>
              </a:rPr>
              <a:t>бюджетное</a:t>
            </a:r>
            <a:r>
              <a:rPr lang="en-US" sz="1800" dirty="0">
                <a:latin typeface="Times New Roman" panose="02020603050405020304" charset="0"/>
              </a:rPr>
              <a:t> </a:t>
            </a:r>
            <a:r>
              <a:rPr lang="en-US" sz="1800" dirty="0" err="1">
                <a:latin typeface="Times New Roman" panose="02020603050405020304" charset="0"/>
              </a:rPr>
              <a:t>образовательное</a:t>
            </a:r>
            <a:r>
              <a:rPr lang="en-US" sz="1800" dirty="0">
                <a:latin typeface="Times New Roman" panose="02020603050405020304" charset="0"/>
              </a:rPr>
              <a:t> </a:t>
            </a:r>
            <a:r>
              <a:rPr lang="en-US" sz="1800" dirty="0" err="1">
                <a:latin typeface="Times New Roman" panose="02020603050405020304" charset="0"/>
              </a:rPr>
              <a:t>учреждение</a:t>
            </a:r>
            <a:endParaRPr lang="en-US" sz="1800" dirty="0">
              <a:latin typeface="Times New Roman" panose="02020603050405020304" charset="0"/>
            </a:endParaRPr>
          </a:p>
          <a:p>
            <a:pPr indent="203200" algn="ctr"/>
            <a:r>
              <a:rPr lang="en-US" sz="1800" dirty="0" err="1">
                <a:latin typeface="Times New Roman" panose="02020603050405020304" charset="0"/>
              </a:rPr>
              <a:t>высшего</a:t>
            </a:r>
            <a:r>
              <a:rPr lang="en-US" sz="1800" dirty="0">
                <a:latin typeface="Times New Roman" panose="02020603050405020304" charset="0"/>
              </a:rPr>
              <a:t> </a:t>
            </a:r>
            <a:r>
              <a:rPr lang="en-US" sz="1800" dirty="0" err="1">
                <a:latin typeface="Times New Roman" panose="02020603050405020304" charset="0"/>
              </a:rPr>
              <a:t>образования</a:t>
            </a:r>
            <a:endParaRPr lang="en-US" sz="1800" b="1" dirty="0">
              <a:latin typeface="Times New Roman" panose="02020603050405020304" charset="0"/>
            </a:endParaRPr>
          </a:p>
          <a:p>
            <a:pPr indent="203200" algn="ctr"/>
            <a:r>
              <a:rPr lang="en-US" sz="1800" b="1" dirty="0">
                <a:latin typeface="Times New Roman" panose="02020603050405020304" charset="0"/>
              </a:rPr>
              <a:t>«</a:t>
            </a:r>
            <a:r>
              <a:rPr lang="en-US" sz="1800" b="1" dirty="0">
                <a:solidFill>
                  <a:srgbClr val="000000"/>
                </a:solidFill>
                <a:latin typeface="Times New Roman" panose="02020603050405020304" charset="0"/>
              </a:rPr>
              <a:t>МИРЭА – </a:t>
            </a:r>
            <a:r>
              <a:rPr lang="en-US" sz="1800" b="1" dirty="0" err="1">
                <a:solidFill>
                  <a:srgbClr val="000000"/>
                </a:solidFill>
                <a:latin typeface="Times New Roman" panose="02020603050405020304" charset="0"/>
              </a:rPr>
              <a:t>Российский</a:t>
            </a:r>
            <a:r>
              <a:rPr lang="en-US" sz="1800" b="1" dirty="0">
                <a:solidFill>
                  <a:srgbClr val="000000"/>
                </a:solidFill>
                <a:latin typeface="Times New Roman" panose="02020603050405020304" charset="0"/>
              </a:rPr>
              <a:t> </a:t>
            </a:r>
            <a:r>
              <a:rPr lang="en-US" sz="1800" b="1" dirty="0" err="1">
                <a:solidFill>
                  <a:srgbClr val="000000"/>
                </a:solidFill>
                <a:latin typeface="Times New Roman" panose="02020603050405020304" charset="0"/>
              </a:rPr>
              <a:t>технологический</a:t>
            </a:r>
            <a:r>
              <a:rPr lang="en-US" sz="1800" b="1" dirty="0">
                <a:solidFill>
                  <a:srgbClr val="000000"/>
                </a:solidFill>
                <a:latin typeface="Times New Roman" panose="02020603050405020304" charset="0"/>
              </a:rPr>
              <a:t> </a:t>
            </a:r>
            <a:r>
              <a:rPr lang="en-US" sz="1800" b="1" dirty="0" err="1">
                <a:solidFill>
                  <a:srgbClr val="000000"/>
                </a:solidFill>
                <a:latin typeface="Times New Roman" panose="02020603050405020304" charset="0"/>
              </a:rPr>
              <a:t>университет</a:t>
            </a:r>
            <a:r>
              <a:rPr lang="en-US" sz="1800" b="1" dirty="0">
                <a:latin typeface="Times New Roman" panose="02020603050405020304" charset="0"/>
              </a:rPr>
              <a:t>»</a:t>
            </a:r>
          </a:p>
          <a:p>
            <a:pPr indent="203200" algn="ctr"/>
            <a:r>
              <a:rPr lang="en-US" sz="1800" b="1" dirty="0">
                <a:latin typeface="Times New Roman" panose="02020603050405020304" charset="0"/>
              </a:rPr>
              <a:t>РТУ МИРЭА</a:t>
            </a:r>
            <a:endParaRPr lang="ru-RU" altLang="en-US" sz="1800" dirty="0"/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2090467" y="3069754"/>
            <a:ext cx="8009483" cy="1815872"/>
          </a:xfrm>
          <a:prstGeom prst="rect">
            <a:avLst/>
          </a:prstGeom>
          <a:noFill/>
          <a:ln w="9525">
            <a:noFill/>
          </a:ln>
        </p:spPr>
        <p:txBody>
          <a:bodyPr wrap="square" lIns="91430" tIns="45715" rIns="91430" bIns="45715">
            <a:spAutoFit/>
          </a:bodyPr>
          <a:lstStyle/>
          <a:p>
            <a:pPr indent="203200" algn="ctr"/>
            <a:r>
              <a:rPr lang="en-US" sz="1800" b="1" dirty="0">
                <a:latin typeface="Times New Roman" panose="02020603050405020304" charset="0"/>
              </a:rPr>
              <a:t>КУРСОВАЯ РАБОТА</a:t>
            </a:r>
            <a:endParaRPr lang="en-US" sz="1800" dirty="0">
              <a:latin typeface="Times New Roman" panose="02020603050405020304" charset="0"/>
            </a:endParaRPr>
          </a:p>
          <a:p>
            <a:pPr indent="203200" algn="ctr"/>
            <a:r>
              <a:rPr lang="en-US" sz="1800" dirty="0" err="1">
                <a:latin typeface="Times New Roman" panose="02020603050405020304" charset="0"/>
                <a:cs typeface="Times New Roman" panose="02020603050405020304" charset="0"/>
              </a:rPr>
              <a:t>по</a:t>
            </a:r>
            <a:r>
              <a:rPr lang="en-US" sz="18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1800" dirty="0" err="1">
                <a:latin typeface="Times New Roman" panose="02020603050405020304" charset="0"/>
                <a:cs typeface="Times New Roman" panose="02020603050405020304" charset="0"/>
              </a:rPr>
              <a:t>дисциплине</a:t>
            </a:r>
            <a:r>
              <a:rPr lang="en-US" sz="18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</a:p>
          <a:p>
            <a:pPr indent="203200" algn="ctr"/>
            <a:r>
              <a:rPr lang="ru-RU" sz="1800" dirty="0" smtClean="0">
                <a:latin typeface="Times New Roman" panose="02020603050405020304" charset="0"/>
                <a:cs typeface="Times New Roman" panose="02020603050405020304" charset="0"/>
              </a:rPr>
              <a:t>Языки программирования для статистической обработки </a:t>
            </a:r>
            <a:r>
              <a:rPr lang="ru-RU" sz="1800" dirty="0">
                <a:latin typeface="Times New Roman" panose="02020603050405020304" charset="0"/>
                <a:cs typeface="Times New Roman" panose="02020603050405020304" charset="0"/>
              </a:rPr>
              <a:t>данных</a:t>
            </a:r>
            <a:endParaRPr lang="en-US" sz="1800" b="1" dirty="0">
              <a:latin typeface="Times New Roman" panose="02020603050405020304" charset="0"/>
              <a:cs typeface="Times New Roman" panose="02020603050405020304" charset="0"/>
            </a:endParaRPr>
          </a:p>
          <a:p>
            <a:pPr indent="203200" algn="ctr"/>
            <a:r>
              <a:rPr lang="en-US" sz="1800" b="1" dirty="0" err="1">
                <a:latin typeface="Times New Roman" panose="02020603050405020304" charset="0"/>
                <a:cs typeface="Times New Roman" panose="02020603050405020304" charset="0"/>
              </a:rPr>
              <a:t>Тема</a:t>
            </a:r>
            <a:r>
              <a:rPr lang="en-US" sz="1800" b="1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1800" b="1" dirty="0" err="1">
                <a:latin typeface="Times New Roman" panose="02020603050405020304" charset="0"/>
                <a:cs typeface="Times New Roman" panose="02020603050405020304" charset="0"/>
              </a:rPr>
              <a:t>курсовой</a:t>
            </a:r>
            <a:r>
              <a:rPr lang="en-US" sz="1800" b="1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1800" b="1" dirty="0" err="1">
                <a:latin typeface="Times New Roman" panose="02020603050405020304" charset="0"/>
                <a:cs typeface="Times New Roman" panose="02020603050405020304" charset="0"/>
              </a:rPr>
              <a:t>работы</a:t>
            </a:r>
            <a:r>
              <a:rPr lang="en-US" sz="1800" dirty="0">
                <a:latin typeface="Times New Roman" panose="02020603050405020304" charset="0"/>
                <a:cs typeface="Times New Roman" panose="02020603050405020304" charset="0"/>
              </a:rPr>
              <a:t>:</a:t>
            </a:r>
          </a:p>
          <a:p>
            <a:pPr indent="203200" algn="ctr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пакета для обработки статистических данных на языке программирования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endParaRPr lang="ru-RU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5" name="Таблица 14"/>
          <p:cNvGraphicFramePr/>
          <p:nvPr>
            <p:extLst>
              <p:ext uri="{D42A27DB-BD31-4B8C-83A1-F6EECF244321}">
                <p14:modId xmlns:p14="http://schemas.microsoft.com/office/powerpoint/2010/main" val="2451757278"/>
              </p:ext>
            </p:extLst>
          </p:nvPr>
        </p:nvGraphicFramePr>
        <p:xfrm>
          <a:off x="1726342" y="5157986"/>
          <a:ext cx="8737732" cy="6052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8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688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5295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ru-RU" alt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Выполнил с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тудент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группы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И</a:t>
                      </a:r>
                      <a:r>
                        <a:rPr lang="ru-RU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Н</a:t>
                      </a:r>
                      <a:r>
                        <a:rPr lang="en-US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БО-0</a:t>
                      </a:r>
                      <a:r>
                        <a:rPr lang="ru-RU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r>
                        <a:rPr lang="en-US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-1</a:t>
                      </a:r>
                      <a:r>
                        <a:rPr lang="ru-RU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9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71" marR="68571" marT="0" marB="0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altLang="en-US" sz="1800" b="0" dirty="0" smtClean="0">
                          <a:latin typeface="Times New Roman" panose="02020603050405020304" charset="0"/>
                          <a:ea typeface="Times New Roman" panose="02020603050405020304" charset="0"/>
                          <a:cs typeface="Times New Roman" panose="02020603050405020304" charset="0"/>
                        </a:rPr>
                        <a:t>Аникин</a:t>
                      </a:r>
                      <a:r>
                        <a:rPr lang="ru-RU" altLang="en-US" sz="1800" b="0" baseline="0" dirty="0" smtClean="0">
                          <a:latin typeface="Times New Roman" panose="02020603050405020304" charset="0"/>
                          <a:ea typeface="Times New Roman" panose="02020603050405020304" charset="0"/>
                          <a:cs typeface="Times New Roman" panose="02020603050405020304" charset="0"/>
                        </a:rPr>
                        <a:t> Артём Сергеевич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71" marR="68571" marT="0" marB="0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/>
          <p:nvPr/>
        </p:nvGraphicFramePr>
        <p:xfrm>
          <a:off x="1725706" y="5878066"/>
          <a:ext cx="8739004" cy="595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9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695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5769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Руководитель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курсовой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работы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71" marR="68571" marT="0" marB="0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Митина</a:t>
                      </a:r>
                      <a:r>
                        <a:rPr lang="en-US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Ольга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Алексеевна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71" marR="68571" marT="0" marB="0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ru-RU" sz="6400" dirty="0"/>
              <a:t>Постановка задачи</a:t>
            </a:r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09521" y="1935928"/>
            <a:ext cx="10796968" cy="4390136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40000"/>
              </a:lnSpc>
              <a:spcBef>
                <a:spcPts val="800"/>
              </a:spcBef>
              <a:buNone/>
            </a:pPr>
            <a:r>
              <a:rPr lang="ru-RU" sz="4400" b="1" dirty="0">
                <a:ea typeface="Source Sans Pro Black" panose="020B0604020202020204" charset="0"/>
              </a:rPr>
              <a:t>Цель</a:t>
            </a:r>
            <a:r>
              <a:rPr lang="ru-RU" sz="3900" b="1" dirty="0">
                <a:ea typeface="Source Sans Pro light" panose="020B0604020202020204" charset="0"/>
                <a:cs typeface="Source Sans Pro light" panose="020B0604020202020204" charset="0"/>
              </a:rPr>
              <a:t>:</a:t>
            </a:r>
            <a:r>
              <a:rPr lang="ru-RU" sz="3900" dirty="0">
                <a:ea typeface="Source Sans Pro light" panose="020B0604020202020204" charset="0"/>
                <a:cs typeface="Source Sans Pro light" panose="020B0604020202020204" charset="0"/>
              </a:rPr>
              <a:t> </a:t>
            </a:r>
            <a:r>
              <a:rPr lang="ru-RU" sz="3900" dirty="0" smtClean="0">
                <a:ea typeface="Source Sans Pro light" panose="020B0604020202020204" charset="0"/>
                <a:cs typeface="Source Sans Pro light" panose="020B0604020202020204" charset="0"/>
              </a:rPr>
              <a:t> </a:t>
            </a:r>
            <a:r>
              <a:rPr lang="ru-RU" sz="2400" dirty="0"/>
              <a:t>создание пакета для обработки статистических данных на языке программирования </a:t>
            </a:r>
            <a:r>
              <a:rPr lang="en-US" sz="2400" dirty="0"/>
              <a:t>R</a:t>
            </a:r>
            <a:r>
              <a:rPr lang="ru-RU" sz="2400" dirty="0" smtClean="0"/>
              <a:t>.</a:t>
            </a:r>
          </a:p>
          <a:p>
            <a:pPr marL="0" indent="0">
              <a:lnSpc>
                <a:spcPct val="140000"/>
              </a:lnSpc>
              <a:spcBef>
                <a:spcPts val="800"/>
              </a:spcBef>
              <a:buNone/>
            </a:pPr>
            <a:r>
              <a:rPr lang="ru-RU" sz="3900" b="1" dirty="0" smtClean="0">
                <a:ea typeface="Source Sans Pro Black" panose="020B0604020202020204" charset="0"/>
              </a:rPr>
              <a:t>Задачи</a:t>
            </a:r>
            <a:r>
              <a:rPr lang="ru-RU" sz="3900" b="1" dirty="0">
                <a:ea typeface="Source Sans Pro Black" panose="020B0604020202020204" charset="0"/>
              </a:rPr>
              <a:t>:</a:t>
            </a:r>
          </a:p>
          <a:p>
            <a:pPr lvl="0"/>
            <a:r>
              <a:rPr lang="ru-RU" sz="2400" dirty="0"/>
              <a:t>изучение научной и методической литературы по проблеме обработки данных;</a:t>
            </a:r>
          </a:p>
          <a:p>
            <a:pPr lvl="0"/>
            <a:r>
              <a:rPr lang="ru-RU" sz="2400" dirty="0"/>
              <a:t>определение списка функций, которые будут реализованы в пакете;</a:t>
            </a:r>
          </a:p>
          <a:p>
            <a:pPr lvl="0"/>
            <a:r>
              <a:rPr lang="ru-RU" sz="2400" dirty="0"/>
              <a:t>создание пакета на языке программирования </a:t>
            </a:r>
            <a:r>
              <a:rPr lang="en-US" sz="2400" dirty="0"/>
              <a:t>R</a:t>
            </a:r>
            <a:r>
              <a:rPr lang="ru-RU" sz="2400" dirty="0"/>
              <a:t>;</a:t>
            </a:r>
          </a:p>
          <a:p>
            <a:pPr lvl="0"/>
            <a:r>
              <a:rPr lang="ru-RU" sz="2400" dirty="0"/>
              <a:t>создание документации для разработанного пакета</a:t>
            </a:r>
            <a:r>
              <a:rPr lang="ru-RU" sz="2400" dirty="0" smtClean="0"/>
              <a:t>.</a:t>
            </a:r>
            <a:endParaRPr lang="ru-RU" sz="2400" dirty="0"/>
          </a:p>
        </p:txBody>
      </p:sp>
      <p:pic>
        <p:nvPicPr>
          <p:cNvPr id="5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19309" y="2373432"/>
            <a:ext cx="10361851" cy="1362771"/>
          </a:xfrm>
        </p:spPr>
        <p:txBody>
          <a:bodyPr/>
          <a:lstStyle/>
          <a:p>
            <a:pPr algn="ctr"/>
            <a:r>
              <a:rPr lang="ru-RU" sz="6400" dirty="0" smtClean="0"/>
              <a:t>Какой-то текст</a:t>
            </a:r>
            <a:endParaRPr lang="ru-RU" sz="6400" dirty="0"/>
          </a:p>
        </p:txBody>
      </p:sp>
      <p:pic>
        <p:nvPicPr>
          <p:cNvPr id="5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800" dirty="0"/>
              <a:t>Выводы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Язык программирования </a:t>
            </a:r>
            <a:r>
              <a:rPr lang="en-US" dirty="0"/>
              <a:t>R</a:t>
            </a:r>
            <a:r>
              <a:rPr lang="ru-RU" dirty="0"/>
              <a:t> создавался специально для анализа данных, поэтому многие функции для анализа данных являются встроенными. </a:t>
            </a:r>
            <a:endParaRPr lang="ru-RU" dirty="0" smtClean="0"/>
          </a:p>
          <a:p>
            <a:r>
              <a:rPr lang="ru-RU" dirty="0" smtClean="0"/>
              <a:t>Сфера </a:t>
            </a:r>
            <a:r>
              <a:rPr lang="ru-RU" dirty="0"/>
              <a:t>применения языка </a:t>
            </a:r>
            <a:r>
              <a:rPr lang="ru-RU" dirty="0" smtClean="0"/>
              <a:t>только </a:t>
            </a:r>
            <a:r>
              <a:rPr lang="ru-RU" dirty="0"/>
              <a:t>растет. </a:t>
            </a:r>
            <a:endParaRPr lang="ru-RU" dirty="0" smtClean="0"/>
          </a:p>
          <a:p>
            <a:r>
              <a:rPr lang="ru-RU" dirty="0" smtClean="0"/>
              <a:t>Одни пакеты можно использовать при разработке других</a:t>
            </a:r>
            <a:endParaRPr lang="ru-RU" dirty="0"/>
          </a:p>
        </p:txBody>
      </p:sp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19309" y="477224"/>
            <a:ext cx="10971372" cy="914577"/>
          </a:xfrm>
        </p:spPr>
        <p:txBody>
          <a:bodyPr>
            <a:normAutofit fontScale="90000"/>
          </a:bodyPr>
          <a:lstStyle/>
          <a:p>
            <a:pPr algn="ctr"/>
            <a:r>
              <a:rPr lang="ru-RU" sz="6400" dirty="0"/>
              <a:t>Выводы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99596" y="1437001"/>
            <a:ext cx="10971372" cy="5161880"/>
          </a:xfrm>
        </p:spPr>
        <p:txBody>
          <a:bodyPr>
            <a:normAutofit fontScale="85000" lnSpcReduction="20000"/>
          </a:bodyPr>
          <a:lstStyle/>
          <a:p>
            <a:pPr marL="0" indent="446088">
              <a:buNone/>
            </a:pPr>
            <a:r>
              <a:rPr lang="ru-RU" dirty="0" smtClean="0"/>
              <a:t>В </a:t>
            </a:r>
            <a:r>
              <a:rPr lang="ru-RU" dirty="0"/>
              <a:t>результате выполнения данной курсовой работы создан пакет для обработки данных на языке программирования </a:t>
            </a:r>
            <a:r>
              <a:rPr lang="en-US" dirty="0"/>
              <a:t>R</a:t>
            </a:r>
            <a:r>
              <a:rPr lang="ru-RU" dirty="0" smtClean="0"/>
              <a:t>.</a:t>
            </a:r>
            <a:endParaRPr lang="ru-RU" sz="3600" dirty="0" smtClean="0"/>
          </a:p>
          <a:p>
            <a:pPr marL="0" indent="446088">
              <a:buNone/>
            </a:pPr>
            <a:r>
              <a:rPr lang="ru-RU" dirty="0" smtClean="0"/>
              <a:t>Цель курсовой работы </a:t>
            </a:r>
            <a:r>
              <a:rPr lang="ru-RU" sz="3600" dirty="0"/>
              <a:t>– </a:t>
            </a:r>
            <a:r>
              <a:rPr lang="ru-RU" sz="3600" dirty="0" smtClean="0"/>
              <a:t>создание </a:t>
            </a:r>
            <a:r>
              <a:rPr lang="ru-RU" sz="3600" dirty="0"/>
              <a:t>пакета для обработки статистических данных на языке программирования </a:t>
            </a:r>
            <a:r>
              <a:rPr lang="en-US" sz="3600" dirty="0" smtClean="0"/>
              <a:t>R</a:t>
            </a:r>
            <a:r>
              <a:rPr lang="ru-RU" sz="3600" dirty="0"/>
              <a:t> </a:t>
            </a:r>
            <a:r>
              <a:rPr lang="ru-RU" sz="3600" dirty="0" smtClean="0"/>
              <a:t>– достигнута.</a:t>
            </a:r>
            <a:endParaRPr lang="ru-RU" sz="3600" dirty="0"/>
          </a:p>
          <a:p>
            <a:pPr marL="0" indent="0">
              <a:buNone/>
            </a:pPr>
            <a:r>
              <a:rPr lang="ru-RU" dirty="0" smtClean="0"/>
              <a:t>Выполнены следующие задачи:</a:t>
            </a:r>
          </a:p>
          <a:p>
            <a:pPr lvl="0"/>
            <a:r>
              <a:rPr lang="ru-RU" dirty="0"/>
              <a:t>изучение научной и методической литературы по проблеме обработки данных;</a:t>
            </a:r>
          </a:p>
          <a:p>
            <a:pPr lvl="0"/>
            <a:r>
              <a:rPr lang="ru-RU" dirty="0"/>
              <a:t>определение списка функций, которые будут реализованы в пакете;</a:t>
            </a:r>
          </a:p>
          <a:p>
            <a:pPr lvl="0"/>
            <a:r>
              <a:rPr lang="ru-RU" dirty="0"/>
              <a:t>создание пакета на языке программирования </a:t>
            </a:r>
            <a:r>
              <a:rPr lang="en-US" dirty="0"/>
              <a:t>R</a:t>
            </a:r>
            <a:r>
              <a:rPr lang="ru-RU" dirty="0"/>
              <a:t>;</a:t>
            </a:r>
          </a:p>
          <a:p>
            <a:pPr lvl="0"/>
            <a:r>
              <a:rPr lang="ru-RU" dirty="0"/>
              <a:t>создание документации для разработанного пакета.</a:t>
            </a:r>
          </a:p>
          <a:p>
            <a:pPr marL="0" indent="0">
              <a:buNone/>
            </a:pPr>
            <a:endParaRPr lang="ru-RU" sz="2400" dirty="0"/>
          </a:p>
          <a:p>
            <a:endParaRPr lang="ru-RU" sz="2400" dirty="0"/>
          </a:p>
        </p:txBody>
      </p:sp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19309" y="2565498"/>
            <a:ext cx="10361851" cy="1362771"/>
          </a:xfrm>
        </p:spPr>
        <p:txBody>
          <a:bodyPr/>
          <a:lstStyle/>
          <a:p>
            <a:pPr algn="ctr"/>
            <a:r>
              <a:rPr lang="ru-RU" sz="6400" dirty="0"/>
              <a:t>Спасибо за внимание!</a:t>
            </a:r>
          </a:p>
        </p:txBody>
      </p:sp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оток">
  <a:themeElements>
    <a:clrScheme name="Поток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Поток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Поток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19</TotalTime>
  <Words>525</Words>
  <Application>Microsoft Office PowerPoint</Application>
  <PresentationFormat>Произвольный</PresentationFormat>
  <Paragraphs>54</Paragraphs>
  <Slides>6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3" baseType="lpstr">
      <vt:lpstr>Calibri</vt:lpstr>
      <vt:lpstr>Constantia</vt:lpstr>
      <vt:lpstr>Source Sans Pro Black</vt:lpstr>
      <vt:lpstr>Source Sans Pro light</vt:lpstr>
      <vt:lpstr>Times New Roman</vt:lpstr>
      <vt:lpstr>Wingdings 2</vt:lpstr>
      <vt:lpstr>Поток</vt:lpstr>
      <vt:lpstr>Презентация PowerPoint</vt:lpstr>
      <vt:lpstr>Постановка задачи</vt:lpstr>
      <vt:lpstr>Какой-то текст</vt:lpstr>
      <vt:lpstr>Выводы</vt:lpstr>
      <vt:lpstr>Выводы</vt:lpstr>
      <vt:lpstr>Спасибо за внимание!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Кластеризация</dc:title>
  <dc:creator>нарекян Гоша</dc:creator>
  <cp:lastModifiedBy>Ортём</cp:lastModifiedBy>
  <cp:revision>53</cp:revision>
  <dcterms:created xsi:type="dcterms:W3CDTF">2020-11-22T16:04:00Z</dcterms:created>
  <dcterms:modified xsi:type="dcterms:W3CDTF">2021-05-31T17:21:15Z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1049-11.2.0.9984</vt:lpwstr>
  </property>
</Properties>
</file>