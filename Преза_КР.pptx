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78" r:id="rId2"/>
    <p:sldId id="257" r:id="rId3"/>
    <p:sldId id="283" r:id="rId4"/>
    <p:sldId id="274" r:id="rId5"/>
    <p:sldId id="280" r:id="rId6"/>
    <p:sldId id="282" r:id="rId7"/>
    <p:sldId id="281" r:id="rId8"/>
    <p:sldId id="286" r:id="rId9"/>
    <p:sldId id="284" r:id="rId10"/>
    <p:sldId id="285" r:id="rId11"/>
    <p:sldId id="287" r:id="rId12"/>
    <p:sldId id="279" r:id="rId13"/>
    <p:sldId id="277" r:id="rId14"/>
    <p:sldId id="275" r:id="rId15"/>
  </p:sldIdLst>
  <p:sldSz cx="12190413" cy="6859588"/>
  <p:notesSz cx="6858000" cy="9144000"/>
  <p:defaultTextStyle>
    <a:defPPr>
      <a:defRPr lang="ru-RU"/>
    </a:defPPr>
    <a:lvl1pPr marL="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5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33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593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53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313" autoAdjust="0"/>
  </p:normalViewPr>
  <p:slideViewPr>
    <p:cSldViewPr>
      <p:cViewPr varScale="1">
        <p:scale>
          <a:sx n="67" d="100"/>
          <a:sy n="67" d="100"/>
        </p:scale>
        <p:origin x="1190" y="62"/>
      </p:cViewPr>
      <p:guideLst>
        <p:guide orient="horz" pos="2161"/>
        <p:guide pos="3840"/>
      </p:guideLst>
    </p:cSldViewPr>
  </p:slideViewPr>
  <p:notesTextViewPr>
    <p:cViewPr>
      <p:scale>
        <a:sx n="1" d="1"/>
        <a:sy n="1" d="1"/>
      </p:scale>
      <p:origin x="0" y="-5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EA5D75-65A6-45CF-B8A8-D293EE720A3B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4E936-F114-4930-902A-E5DF2A2255C6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56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33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593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53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Титульный</a:t>
            </a:r>
            <a:r>
              <a:rPr lang="ru-RU" baseline="0" smtClean="0"/>
              <a:t> лист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sz="1200" b="1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Введение</a:t>
                </a:r>
              </a:p>
              <a:p>
                <a:r>
                  <a:rPr lang="en-US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 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– язык программирования для статистической обработки данных и работы с графикой. Основным преимуществом данного языка являются пользовательские пакеты, разработанные другими программистами, как одиночками, так и компаниями. </a:t>
                </a:r>
              </a:p>
              <a:p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В языке программирования 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основной единицей совместно используемого кода является пакет. Он объединяет код, данные, документацию и тесты, и им легко поделиться с другими 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-программистами. По состоянию на 2019 год доступно более 14 тысяч пакетов в 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Comprehensive R Archive Network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или 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CRAN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общедоступной информационной палате для пакетов 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Такое огромное разнообразие пакетов и большое </a:t>
                </a:r>
                <a:r>
                  <a:rPr lang="ru-RU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комьюнити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–</m:t>
                    </m:r>
                  </m:oMath>
                </a14:m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это причины успеха языка программирования 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Таким образом, велика вероятность того, что кто-то уже решил проблему, над которой вы работаете, и для ее разрешения достаточно всего лишь загрузить пакет. Поэтому тема данной курсовой работы является актуальной для сферы обработки статистических данных с использованием языка программирования 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ru-RU" dirty="0" smtClean="0"/>
              </a:p>
              <a:p>
                <a:r>
                  <a:rPr lang="ru-RU" dirty="0" smtClean="0"/>
                  <a:t>На данном</a:t>
                </a:r>
                <a:r>
                  <a:rPr lang="ru-RU" baseline="0" dirty="0" smtClean="0"/>
                  <a:t> слайде показаны цель и задачи, решаемые в ходе выполнения курсовой работы. </a:t>
                </a:r>
                <a:endParaRPr lang="ru-RU" dirty="0"/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sz="1200" b="1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Введение</a:t>
                </a:r>
              </a:p>
              <a:p>
                <a:r>
                  <a:rPr lang="en-US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 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– язык программирования для статистической обработки данных и работы с графикой. Основным преимуществом данного языка являются пользовательские пакеты, разработанные другими программистами, как одиночками, так и компаниями. </a:t>
                </a:r>
              </a:p>
              <a:p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В языке программирования 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основной единицей совместно используемого кода является пакет. Он объединяет код, данные, документацию и тесты, и им легко поделиться с другими 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-программистами. По состоянию на 2019 год доступно более 14 тысяч пакетов в 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Comprehensive R Archive Network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или 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CRAN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общедоступной информационной палате для пакетов 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Такое огромное разнообразие пакетов и большое </a:t>
                </a:r>
                <a:r>
                  <a:rPr lang="ru-RU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комьюнити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–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это причины успеха языка программирования 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Таким образом, велика вероятность того, что кто-то уже решил проблему, над которой вы работаете, и для ее разрешения достаточно всего лишь загрузить пакет. Поэтому тема данной курсовой работы является актуальной для сферы обработки статистических данных с использованием языка программирования 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ru-RU" dirty="0" smtClean="0"/>
              </a:p>
              <a:p>
                <a:r>
                  <a:rPr lang="ru-RU" dirty="0" smtClean="0"/>
                  <a:t>На данном</a:t>
                </a:r>
                <a:r>
                  <a:rPr lang="ru-RU" baseline="0" dirty="0" smtClean="0"/>
                  <a:t> слайде показаны цель и задачи, решаемые в ходе выполнения курсовой работы. </a:t>
                </a:r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Алгоритм создания</a:t>
            </a:r>
            <a:r>
              <a:rPr lang="ru-RU" sz="16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собственного пакета на языке программирования </a:t>
            </a:r>
            <a:r>
              <a:rPr lang="en-US" sz="16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ru-RU" sz="16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достаточно прост. Его пункты представлены на слайде.</a:t>
            </a:r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964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 описательной статистики позволяет обобщить первичные результаты, полученные при наблюдении или в эксперименте. Все расчеты описательных статистик  сводятся  к группировке  данных  по  их  значениям,  построению распределения их частот, выявлению центральных тенденций распределения и,  наконец,  к  оценке  разброса  данных  по  отношению  к  найденной центральной тенденции. </a:t>
            </a:r>
          </a:p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Представление  описательных  статистик  является  первым  шагом любого анализа. Цель представления данных в виде описательных статистик –  сделать  выводы  и  принять  верные  решения,  основанные  на  имеющихся данных. Представление данных происходит посредством подсчета некоторых величин, называемых основными показателями описательной статистики.  </a:t>
            </a:r>
          </a:p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 величины включают в себя: среднее значение,</a:t>
            </a:r>
            <a:r>
              <a:rPr lang="ru-RU" sz="16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медиана,</a:t>
            </a:r>
            <a:r>
              <a:rPr lang="ru-RU" sz="16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мода, разброс (диапазон разброса данных),</a:t>
            </a:r>
            <a:r>
              <a:rPr lang="ru-RU" sz="16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дисперсия, отклонение,</a:t>
            </a:r>
            <a:r>
              <a:rPr lang="ru-RU" sz="16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квартили,</a:t>
            </a:r>
            <a:r>
              <a:rPr lang="ru-RU" sz="16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доверительный интервал. </a:t>
            </a:r>
          </a:p>
          <a:p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автоматического создания иерархии</a:t>
            </a:r>
            <a:r>
              <a:rPr lang="ru-RU" sz="16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файлов используется к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оманда </a:t>
            </a:r>
            <a:r>
              <a:rPr lang="en-US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devtools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::create()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6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Созданы файлы (на</a:t>
            </a:r>
            <a:r>
              <a:rPr lang="ru-RU" sz="16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слайде) и директория (на слайде).</a:t>
            </a:r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143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В автоматически создавшемся файле </a:t>
                </a:r>
                <a:r>
                  <a:rPr lang="en-US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DESCRIPTION</a:t>
                </a:r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введены метаданные создаваемого пакета.</a:t>
                </a:r>
              </a:p>
              <a:p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Следует рассказать о самых важных немного подробнее: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Package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 </a:t>
                </a:r>
                <a14:m>
                  <m:oMath xmlns:m="http://schemas.openxmlformats.org/officeDocument/2006/math">
                    <m:r>
                      <a:rPr lang="ru-RU" sz="16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</m:oMath>
                </a14:m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название пакета;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Type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 </a:t>
                </a:r>
                <a14:m>
                  <m:oMath xmlns:m="http://schemas.openxmlformats.org/officeDocument/2006/math">
                    <m:r>
                      <a:rPr lang="ru-RU" sz="16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</m:oMath>
                </a14:m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тип создаваемой иерархии файлов;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Title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 </a:t>
                </a:r>
                <a14:m>
                  <m:oMath xmlns:m="http://schemas.openxmlformats.org/officeDocument/2006/math">
                    <m:r>
                      <a:rPr lang="ru-RU" sz="16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</m:oMath>
                </a14:m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краткое описание функционала пакета;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Version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 </a:t>
                </a:r>
                <a14:m>
                  <m:oMath xmlns:m="http://schemas.openxmlformats.org/officeDocument/2006/math">
                    <m:r>
                      <a:rPr lang="ru-RU" sz="16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</m:oMath>
                </a14:m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версия создаваемого пакета;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Author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 </a:t>
                </a:r>
                <a14:m>
                  <m:oMath xmlns:m="http://schemas.openxmlformats.org/officeDocument/2006/math">
                    <m:r>
                      <a:rPr lang="ru-RU" sz="16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</m:oMath>
                </a14:m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компания создатель или разработчик пакета;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Description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 </a:t>
                </a:r>
                <a14:m>
                  <m:oMath xmlns:m="http://schemas.openxmlformats.org/officeDocument/2006/math">
                    <m:r>
                      <a:rPr lang="ru-RU" sz="16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</m:oMath>
                </a14:m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более полное описание функционала пакета;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Encoding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 </a:t>
                </a:r>
                <a14:m>
                  <m:oMath xmlns:m="http://schemas.openxmlformats.org/officeDocument/2006/math">
                    <m:r>
                      <a:rPr lang="ru-RU" sz="16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</m:oMath>
                </a14:m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кодировка, используемая в файлах пакета;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прочие разделы создаются автоматически пакетом </a:t>
                </a:r>
                <a:r>
                  <a:rPr lang="en-US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Roxygen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 и включают информацию о нем;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Imports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 указываются сторонние пакеты, которые участвуют в работе данного пакета.</a:t>
                </a:r>
              </a:p>
              <a:p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То есть, в разделе 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Imports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», представленном </a:t>
                </a:r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на</a:t>
                </a:r>
                <a:r>
                  <a:rPr lang="ru-RU" sz="1600" kern="1200" baseline="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слайде, </a:t>
                </a:r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указано 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четыре сторонних пакета, используемых при разработке пакета «</a:t>
                </a:r>
                <a:r>
                  <a:rPr lang="en-US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mypackage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»:</a:t>
                </a:r>
              </a:p>
              <a:p>
                <a:pPr lvl="0"/>
                <a:r>
                  <a:rPr lang="en-US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devtools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–</m:t>
                    </m:r>
                  </m:oMath>
                </a14:m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дает удобство разработки пакета;</a:t>
                </a:r>
              </a:p>
              <a:p>
                <a:pPr lvl="0"/>
                <a:r>
                  <a:rPr lang="en-US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roxygen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 </a:t>
                </a:r>
                <a14:m>
                  <m:oMath xmlns:m="http://schemas.openxmlformats.org/officeDocument/2006/math">
                    <m:r>
                      <a:rPr lang="ru-RU" sz="16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–</m:t>
                    </m:r>
                  </m:oMath>
                </a14:m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для документирования написанных функций;</a:t>
                </a:r>
              </a:p>
              <a:p>
                <a:pPr lvl="0"/>
                <a:r>
                  <a:rPr lang="en-US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docstring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–</m:t>
                    </m:r>
                  </m:oMath>
                </a14:m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для написания документации функций;</a:t>
                </a:r>
              </a:p>
              <a:p>
                <a:pPr lvl="0"/>
                <a:r>
                  <a:rPr lang="en-US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testthat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–</m:t>
                    </m:r>
                  </m:oMath>
                </a14:m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для юнит-тестирования написанных функций</a:t>
                </a:r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ru-RU" sz="16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В автоматически создавшемся файле </a:t>
                </a:r>
                <a:r>
                  <a:rPr lang="en-US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DESCRIPTION</a:t>
                </a:r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введены метаданные создаваемого пакета.</a:t>
                </a:r>
              </a:p>
              <a:p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Следует рассказать о самых важных немного подробнее: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Package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−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название пакета;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Type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−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тип создаваемой иерархии файлов;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Title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−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краткое описание функционала пакета;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Version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−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версия создаваемого пакета;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Author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−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компания создатель или разработчик пакета;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Description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−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более полное описание функционала пакета;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Encoding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−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кодировка, используемая в файлах пакета;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прочие разделы создаются автоматически пакетом </a:t>
                </a:r>
                <a:r>
                  <a:rPr lang="en-US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Roxygen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 и включают информацию о нем;</a:t>
                </a:r>
              </a:p>
              <a:p>
                <a:pPr lvl="0"/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Imports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 указываются сторонние пакеты, которые участвуют в работе данного пакета.</a:t>
                </a:r>
              </a:p>
              <a:p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То есть, в разделе «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Imports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», представленном на рисунке 2, указано четыре сторонних пакета, используемых при разработке пакета «</a:t>
                </a:r>
                <a:r>
                  <a:rPr lang="en-US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mypackage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»:</a:t>
                </a:r>
              </a:p>
              <a:p>
                <a:pPr lvl="0"/>
                <a:r>
                  <a:rPr lang="en-US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devtools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–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дает удобство разработки пакета;</a:t>
                </a:r>
              </a:p>
              <a:p>
                <a:pPr lvl="0"/>
                <a:r>
                  <a:rPr lang="en-US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roxygen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–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для документирования написанных функций;</a:t>
                </a:r>
              </a:p>
              <a:p>
                <a:pPr lvl="0"/>
                <a:r>
                  <a:rPr lang="en-US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docstring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–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для написания документации функций;</a:t>
                </a:r>
              </a:p>
              <a:p>
                <a:pPr lvl="0"/>
                <a:r>
                  <a:rPr lang="en-US" sz="16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testthat</a:t>
                </a:r>
                <a:r>
                  <a:rPr lang="en-US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ru-RU" sz="16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–</a:t>
                </a:r>
                <a:r>
                  <a:rPr lang="ru-RU" sz="16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для юнит-тестирования написанных функций</a:t>
                </a:r>
                <a:r>
                  <a:rPr lang="ru-RU" sz="16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ru-RU" sz="16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213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Следующим шагом в создании собственного пакета является написание и документирование функций. Написание каждой функции в отдельном .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файле можно назвать правилом хорошего тона. После написания функции ее необходимо задокументировать, то есть добавить специфическое описание по определенному шаблону, представленному на слайде.</a:t>
            </a:r>
          </a:p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Рассмотрим поля из слайда поподробнее:</a:t>
            </a:r>
          </a:p>
          <a:p>
            <a:pPr lvl="0"/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содержит название функции;</a:t>
            </a:r>
          </a:p>
          <a:p>
            <a:pPr lvl="0"/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description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содержит описание ее работы;</a:t>
            </a:r>
          </a:p>
          <a:p>
            <a:pPr lvl="0"/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</a:t>
            </a:r>
            <a:r>
              <a:rPr lang="en-US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содержит описание входящих в функцию параметров;</a:t>
            </a:r>
          </a:p>
          <a:p>
            <a:pPr lvl="0"/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содержит описание возвращаемых функцией значений;</a:t>
            </a:r>
          </a:p>
          <a:p>
            <a:pPr lvl="0"/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имеет говорящее название, то есть содержит примеры использования функции;</a:t>
            </a:r>
          </a:p>
          <a:p>
            <a:pPr lvl="0"/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export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добавляет функцию в поле видимости пакета.</a:t>
            </a:r>
          </a:p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написания всех функций необходимо выполнить команду «</a:t>
            </a:r>
            <a:r>
              <a:rPr lang="en-US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devtools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()». Она сформирует файлы с расширением .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 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поддиректории «./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», в которых хранится документация по каждой функции.</a:t>
            </a:r>
          </a:p>
          <a:p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4322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установки пакета можно просмотреть документацию к каждой функции пакета с помощью встроенной функции «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(название функции)» или «?(название функции)».</a:t>
            </a:r>
          </a:p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 окончательно</a:t>
            </a:r>
            <a:r>
              <a:rPr lang="ru-RU" sz="16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сформированной документации представлен на слайде.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485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Следующим этапом в разработке собственного пакета можно назвать юнит-тестирование, с помощью которого отлавливаются ошибки, возникающие при изменении кода функций.</a:t>
            </a:r>
          </a:p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выполнении команды «</a:t>
            </a:r>
            <a:r>
              <a:rPr lang="en-US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devtools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()» создается поддиректория «</a:t>
            </a:r>
            <a:r>
              <a:rPr lang="en-US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mypackage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», в которой хранятся файлы с исходным кодом тестов функций. Один из подобных файлов представлен 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слайде.</a:t>
            </a:r>
            <a:endParaRPr lang="ru-RU" sz="16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каждый файл импортируется пакет для тестирования и разрабатываемый пакет, которому пишутся тесты в данный момент. С 8-ой по 16-ую </a:t>
            </a:r>
            <a:r>
              <a:rPr lang="ru-RU" sz="16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строку </a:t>
            </a:r>
            <a:r>
              <a:rPr lang="ru-RU" sz="16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 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исходного кода одного из юнит-тестов для конкретной функции 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519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данном этапе разработка почти завершена, остается лишь инициализировать </a:t>
            </a:r>
            <a:r>
              <a:rPr lang="en-US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загрузить в него свой пакет. В данном случае создан </a:t>
            </a:r>
            <a:r>
              <a:rPr lang="ru-RU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под названием «</a:t>
            </a:r>
            <a:r>
              <a:rPr lang="en-US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mypackage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 Теперь пакет могут установить себе и пользоваться другие пользователи языка программирования 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Установка пакета происходит при помощи стандартной функции «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en-US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(ссылка)», у которой в качестве параметра подается ссылка на </a:t>
            </a:r>
            <a:r>
              <a:rPr lang="en-US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По окончании установки можно проверить, действительно ли установился пакет. Проверка осуществляется с помощью стандартной функции «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installed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packages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()». Она выведет список всех установленных пакетов, среди которых будет «</a:t>
            </a:r>
            <a:r>
              <a:rPr lang="en-US" sz="16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mypackage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</a:t>
            </a:r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74354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использования одной из функций пакета представлен </a:t>
            </a:r>
            <a:r>
              <a:rPr lang="ru-RU" sz="16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слайде.</a:t>
            </a:r>
          </a:p>
          <a:p>
            <a:pPr marL="0" marR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Данная функция находит первый, второй и третий квартили входного вектора «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соответственно и возвращает результат в виде именованного вектора чисел.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71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Язык программирования 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создавался специально для анализа данных, поэтому многие функции для анализа данных являются встроенными. Их много, но задач и способов применения еще больше. Поэтому главное достоинство языка состоит в возможности разрабатывать пользовательские пакеты для решения определенных задач. </a:t>
            </a:r>
          </a:p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Сфера применения языка только растет. Разрабатывается все больше пакетов, функционал которых позволяет решать самые разнообразные задачи: от визуализации данных до помощи в разработке других пакетов.</a:t>
            </a:r>
          </a:p>
          <a:p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Также необходимо отметить, что одни пакеты могут служить в роли «кирпичиков» при разработке других. Поэтому тема разработки пакетов на языке программирования 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ru-RU" sz="16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остается актуальной.</a:t>
            </a:r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809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</a:t>
            </a:r>
            <a:r>
              <a:rPr lang="ru-RU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(на слайде) – достигнута. В ходе выполнения курсового проекта выполнены следующие задачи: (на слайде).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13</a:t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Спасибо</a:t>
            </a:r>
            <a:r>
              <a:rPr lang="ru-RU" baseline="0" dirty="0" smtClean="0"/>
              <a:t> за внимание!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4E936-F114-4930-902A-E5DF2A2255C6}" type="slidenum">
              <a:rPr lang="ru-RU" smtClean="0"/>
              <a:t>14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108" y="1371918"/>
            <a:ext cx="10467501" cy="1829223"/>
          </a:xfrm>
          <a:ln>
            <a:noFill/>
          </a:ln>
        </p:spPr>
        <p:txBody>
          <a:bodyPr vert="horz" tIns="0" rIns="24377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75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107" y="3229283"/>
            <a:ext cx="10471565" cy="1753006"/>
          </a:xfrm>
        </p:spPr>
        <p:txBody>
          <a:bodyPr lIns="0" rIns="24377"/>
          <a:lstStyle>
            <a:lvl1pPr marL="0" marR="60960" indent="0" algn="r">
              <a:buNone/>
              <a:defRPr>
                <a:solidFill>
                  <a:schemeClr val="tx1"/>
                </a:solidFill>
              </a:defRPr>
            </a:lvl1pPr>
            <a:lvl2pPr marL="609600" indent="0" algn="ctr">
              <a:buNone/>
            </a:lvl2pPr>
            <a:lvl3pPr marL="1218565" indent="0" algn="ctr">
              <a:buNone/>
            </a:lvl3pPr>
            <a:lvl4pPr marL="1828165" indent="0" algn="ctr">
              <a:buNone/>
            </a:lvl4pPr>
            <a:lvl5pPr marL="2437765" indent="0" algn="ctr">
              <a:buNone/>
            </a:lvl5pPr>
            <a:lvl6pPr marL="3047365" indent="0" algn="ctr">
              <a:buNone/>
            </a:lvl6pPr>
            <a:lvl7pPr marL="3656330" indent="0" algn="ctr">
              <a:buNone/>
            </a:lvl7pPr>
            <a:lvl8pPr marL="4265930" indent="0" algn="ctr">
              <a:buNone/>
            </a:lvl8pPr>
            <a:lvl9pPr marL="487553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A8E4-2F89-47B8-98E4-9AC1AEF737F3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315-D3FD-4FC1-91E6-BE4590121925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A8E4-2F89-47B8-98E4-9AC1AEF737F3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315-D3FD-4FC1-91E6-BE45901219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044" y="1317042"/>
            <a:ext cx="10361851" cy="1362771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75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044" y="2705291"/>
            <a:ext cx="10361851" cy="1510062"/>
          </a:xfrm>
        </p:spPr>
        <p:txBody>
          <a:bodyPr lIns="60941" rIns="60941" anchor="t"/>
          <a:lstStyle>
            <a:lvl1pPr marL="0" indent="0">
              <a:buNone/>
              <a:defRPr sz="2900">
                <a:solidFill>
                  <a:schemeClr val="tx1"/>
                </a:solidFill>
              </a:defRPr>
            </a:lvl1pPr>
            <a:lvl2pPr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A8E4-2F89-47B8-98E4-9AC1AEF737F3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315-D3FD-4FC1-91E6-BE4590121925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21" y="704251"/>
            <a:ext cx="10971372" cy="1143265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21" y="1920530"/>
            <a:ext cx="5384099" cy="4435867"/>
          </a:xfrm>
        </p:spPr>
        <p:txBody>
          <a:bodyPr/>
          <a:lstStyle>
            <a:lvl1pPr>
              <a:defRPr sz="35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793" y="1920530"/>
            <a:ext cx="5384099" cy="4435867"/>
          </a:xfrm>
        </p:spPr>
        <p:txBody>
          <a:bodyPr/>
          <a:lstStyle>
            <a:lvl1pPr>
              <a:defRPr sz="35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A8E4-2F89-47B8-98E4-9AC1AEF737F3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315-D3FD-4FC1-91E6-BE45901219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21" y="704251"/>
            <a:ext cx="10971372" cy="1143265"/>
          </a:xfrm>
        </p:spPr>
        <p:txBody>
          <a:bodyPr tIns="60941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855677"/>
            <a:ext cx="5386216" cy="659505"/>
          </a:xfrm>
        </p:spPr>
        <p:txBody>
          <a:bodyPr lIns="60941" tIns="0" rIns="60941" bIns="0" anchor="ctr">
            <a:noAutofit/>
          </a:bodyPr>
          <a:lstStyle>
            <a:lvl1pPr marL="0" indent="0">
              <a:buNone/>
              <a:defRPr sz="32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700" b="1"/>
            </a:lvl2pPr>
            <a:lvl3pPr>
              <a:buNone/>
              <a:defRPr sz="2400" b="1"/>
            </a:lvl3pPr>
            <a:lvl4pPr>
              <a:buNone/>
              <a:defRPr sz="2100" b="1"/>
            </a:lvl4pPr>
            <a:lvl5pPr>
              <a:buNone/>
              <a:defRPr sz="21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2565" y="1860188"/>
            <a:ext cx="5388332" cy="654994"/>
          </a:xfrm>
        </p:spPr>
        <p:txBody>
          <a:bodyPr lIns="60941" tIns="0" rIns="60941" bIns="0" anchor="ctr"/>
          <a:lstStyle>
            <a:lvl1pPr marL="0" indent="0">
              <a:buNone/>
              <a:defRPr sz="32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700" b="1"/>
            </a:lvl2pPr>
            <a:lvl3pPr>
              <a:buNone/>
              <a:defRPr sz="2400" b="1"/>
            </a:lvl3pPr>
            <a:lvl4pPr>
              <a:buNone/>
              <a:defRPr sz="2100" b="1"/>
            </a:lvl4pPr>
            <a:lvl5pPr>
              <a:buNone/>
              <a:defRPr sz="21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521" y="2515183"/>
            <a:ext cx="5386216" cy="3846610"/>
          </a:xfrm>
        </p:spPr>
        <p:txBody>
          <a:bodyPr tIns="0"/>
          <a:lstStyle>
            <a:lvl1pPr>
              <a:defRPr sz="29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565" y="2515183"/>
            <a:ext cx="5388332" cy="3846610"/>
          </a:xfrm>
        </p:spPr>
        <p:txBody>
          <a:bodyPr tIns="0"/>
          <a:lstStyle>
            <a:lvl1pPr>
              <a:defRPr sz="29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A8E4-2F89-47B8-98E4-9AC1AEF737F3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315-D3FD-4FC1-91E6-BE45901219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21" y="704251"/>
            <a:ext cx="11072958" cy="1143265"/>
          </a:xfrm>
        </p:spPr>
        <p:txBody>
          <a:bodyPr vert="horz" tIns="60941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67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A8E4-2F89-47B8-98E4-9AC1AEF737F3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315-D3FD-4FC1-91E6-BE45901219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A8E4-2F89-47B8-98E4-9AC1AEF737F3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315-D3FD-4FC1-91E6-BE45901219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281" y="514472"/>
            <a:ext cx="3657124" cy="116232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35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281" y="1676788"/>
            <a:ext cx="3657124" cy="4573059"/>
          </a:xfrm>
        </p:spPr>
        <p:txBody>
          <a:bodyPr lIns="24377" rIns="24377"/>
          <a:lstStyle>
            <a:lvl1pPr marL="0" indent="0" algn="l">
              <a:buNone/>
              <a:defRPr sz="1900"/>
            </a:lvl1pPr>
            <a:lvl2pPr indent="0" algn="l">
              <a:buNone/>
              <a:defRPr sz="1600"/>
            </a:lvl2pPr>
            <a:lvl3pPr indent="0" algn="l">
              <a:buNone/>
              <a:defRPr sz="1300"/>
            </a:lvl3pPr>
            <a:lvl4pPr indent="0" algn="l">
              <a:buNone/>
              <a:defRPr sz="1200"/>
            </a:lvl4pPr>
            <a:lvl5pPr indent="0" algn="l">
              <a:buNone/>
              <a:defRPr sz="12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113" y="1676788"/>
            <a:ext cx="6814779" cy="4573059"/>
          </a:xfrm>
        </p:spPr>
        <p:txBody>
          <a:bodyPr tIns="0"/>
          <a:lstStyle>
            <a:lvl1pPr>
              <a:defRPr sz="3700"/>
            </a:lvl1pPr>
            <a:lvl2pPr>
              <a:defRPr sz="3500"/>
            </a:lvl2pPr>
            <a:lvl3pPr>
              <a:defRPr sz="3200"/>
            </a:lvl3pPr>
            <a:lvl4pPr>
              <a:defRPr sz="2700"/>
            </a:lvl4pPr>
            <a:lvl5pPr>
              <a:defRPr sz="24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A8E4-2F89-47B8-98E4-9AC1AEF737F3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315-D3FD-4FC1-91E6-BE45901219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0456" y="1108334"/>
            <a:ext cx="7009487" cy="4115753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2" tIns="60941" rIns="121882" bIns="60941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0791" y="5361010"/>
            <a:ext cx="207237" cy="155484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2" tIns="60941" rIns="121882" bIns="60941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694" y="1177268"/>
            <a:ext cx="2950080" cy="1582988"/>
          </a:xfrm>
        </p:spPr>
        <p:txBody>
          <a:bodyPr vert="horz" lIns="60941" tIns="60941" rIns="60941" bIns="60941" anchor="b"/>
          <a:lstStyle>
            <a:lvl1pPr algn="l">
              <a:buNone/>
              <a:defRPr sz="27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694" y="2829440"/>
            <a:ext cx="2946016" cy="2179825"/>
          </a:xfrm>
        </p:spPr>
        <p:txBody>
          <a:bodyPr lIns="85319" rIns="60941" bIns="60941" anchor="t"/>
          <a:lstStyle>
            <a:lvl1pPr marL="0" indent="0" algn="l">
              <a:spcBef>
                <a:spcPts val="335"/>
              </a:spcBef>
              <a:buFontTx/>
              <a:buNone/>
              <a:defRPr sz="17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A8E4-2F89-47B8-98E4-9AC1AEF737F3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8198" y="6357822"/>
            <a:ext cx="812694" cy="365210"/>
          </a:xfrm>
        </p:spPr>
        <p:txBody>
          <a:bodyPr/>
          <a:lstStyle/>
          <a:p>
            <a:fld id="{90A64315-D3FD-4FC1-91E6-BE4590121925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119" y="1199795"/>
            <a:ext cx="6156159" cy="393283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43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Freeform 9"/>
          <p:cNvSpPr/>
          <p:nvPr/>
        </p:nvSpPr>
        <p:spPr bwMode="auto">
          <a:xfrm flipV="1">
            <a:off x="-12699" y="5817947"/>
            <a:ext cx="12215810" cy="104164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882" tIns="60941" rIns="121882" bIns="60941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 bwMode="auto">
          <a:xfrm flipV="1">
            <a:off x="5841240" y="6221269"/>
            <a:ext cx="6349173" cy="6383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882" tIns="60941" rIns="121882" bIns="60941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A8E4-2F89-47B8-98E4-9AC1AEF737F3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315-D3FD-4FC1-91E6-BE45901219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049" y="914613"/>
            <a:ext cx="2742843" cy="5212969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21" y="914613"/>
            <a:ext cx="8025355" cy="5212969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A8E4-2F89-47B8-98E4-9AC1AEF737F3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64315-D3FD-4FC1-91E6-BE459012192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-12699" y="-7146"/>
            <a:ext cx="12215810" cy="104164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882" tIns="60941" rIns="121882" bIns="60941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5841240" y="-7141"/>
            <a:ext cx="6349173" cy="6383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882" tIns="60941" rIns="121882" bIns="60941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521" y="704251"/>
            <a:ext cx="10971372" cy="1143265"/>
          </a:xfrm>
          <a:prstGeom prst="rect">
            <a:avLst/>
          </a:prstGeom>
        </p:spPr>
        <p:txBody>
          <a:bodyPr vert="horz" lIns="0" tIns="60941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521" y="1935928"/>
            <a:ext cx="10971372" cy="4390136"/>
          </a:xfrm>
          <a:prstGeom prst="rect">
            <a:avLst/>
          </a:prstGeom>
        </p:spPr>
        <p:txBody>
          <a:bodyPr vert="horz" lIns="121882" tIns="60941" rIns="121882" bIns="60941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3CDA8E4-2F89-47B8-98E4-9AC1AEF737F3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5539" y="6357822"/>
            <a:ext cx="4469818" cy="365210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5024" y="6357822"/>
            <a:ext cx="1015868" cy="36521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0A64315-D3FD-4FC1-91E6-BE4590121925}" type="slidenum">
              <a:rPr lang="ru-RU" smtClean="0"/>
              <a:t>‹#›</a:t>
            </a:fld>
            <a:endParaRPr lang="ru-RU"/>
          </a:p>
        </p:txBody>
      </p:sp>
      <p:grpSp>
        <p:nvGrpSpPr>
          <p:cNvPr id="2" name="Group 1"/>
          <p:cNvGrpSpPr/>
          <p:nvPr/>
        </p:nvGrpSpPr>
        <p:grpSpPr>
          <a:xfrm>
            <a:off x="-25350" y="202456"/>
            <a:ext cx="12239137" cy="649374"/>
            <a:chOff x="-19045" y="216550"/>
            <a:chExt cx="9180548" cy="649224"/>
          </a:xfrm>
        </p:grpSpPr>
        <p:sp>
          <p:nvSpPr>
            <p:cNvPr id="12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67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65760" indent="-36576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53440" indent="-32893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65" indent="-32893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325" indent="-280035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1950085" indent="-280035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2315845" indent="-280035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559685" indent="-24384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21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25445" indent="-243840" algn="l" rtl="0" eaLnBrk="1" latinLnBrk="0" hangingPunct="1">
        <a:spcBef>
          <a:spcPct val="20000"/>
        </a:spcBef>
        <a:buClr>
          <a:schemeClr val="tx2"/>
        </a:buClr>
        <a:buChar char="•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3290570" indent="-24384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65633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26593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3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Рисунок 35" descr="Изображение выглядит как текст&#10;&#10;Автоматически созданное описание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35524" y="189434"/>
            <a:ext cx="919369" cy="103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Текстовое поле 99"/>
          <p:cNvSpPr txBox="1"/>
          <p:nvPr/>
        </p:nvSpPr>
        <p:spPr>
          <a:xfrm>
            <a:off x="4257961" y="1269554"/>
            <a:ext cx="3674494" cy="369322"/>
          </a:xfrm>
          <a:prstGeom prst="rect">
            <a:avLst/>
          </a:prstGeom>
          <a:noFill/>
          <a:ln w="9525">
            <a:noFill/>
          </a:ln>
        </p:spPr>
        <p:txBody>
          <a:bodyPr wrap="square" lIns="91430" tIns="45715" rIns="91430" bIns="45715">
            <a:spAutoFit/>
          </a:bodyPr>
          <a:lstStyle/>
          <a:p>
            <a:pPr indent="203200" algn="ctr"/>
            <a:r>
              <a:rPr lang="en-US" sz="1800" dirty="0">
                <a:latin typeface="Times New Roman" panose="02020603050405020304" charset="0"/>
              </a:rPr>
              <a:t>МИНОБРНАУКИ РОССИИ</a:t>
            </a:r>
            <a:endParaRPr lang="ru-RU" altLang="en-US" sz="1800" dirty="0"/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1976556" y="1638876"/>
            <a:ext cx="8229163" cy="1200318"/>
          </a:xfrm>
          <a:prstGeom prst="rect">
            <a:avLst/>
          </a:prstGeom>
          <a:noFill/>
          <a:ln w="9525">
            <a:noFill/>
          </a:ln>
        </p:spPr>
        <p:txBody>
          <a:bodyPr wrap="square" lIns="91430" tIns="45715" rIns="91430" bIns="45715">
            <a:spAutoFit/>
          </a:bodyPr>
          <a:lstStyle/>
          <a:p>
            <a:pPr indent="203200" algn="ctr"/>
            <a:r>
              <a:rPr lang="en-US" sz="1800" dirty="0" err="1">
                <a:latin typeface="Times New Roman" panose="02020603050405020304" charset="0"/>
              </a:rPr>
              <a:t>Федеральное</a:t>
            </a:r>
            <a:r>
              <a:rPr lang="en-US" sz="1800" dirty="0">
                <a:latin typeface="Times New Roman" panose="02020603050405020304" charset="0"/>
              </a:rPr>
              <a:t> </a:t>
            </a:r>
            <a:r>
              <a:rPr lang="en-US" sz="1800" dirty="0" err="1">
                <a:latin typeface="Times New Roman" panose="02020603050405020304" charset="0"/>
              </a:rPr>
              <a:t>государственное</a:t>
            </a:r>
            <a:r>
              <a:rPr lang="en-US" sz="1800" dirty="0">
                <a:latin typeface="Times New Roman" panose="02020603050405020304" charset="0"/>
              </a:rPr>
              <a:t> </a:t>
            </a:r>
            <a:r>
              <a:rPr lang="en-US" sz="1800" dirty="0" err="1">
                <a:latin typeface="Times New Roman" panose="02020603050405020304" charset="0"/>
              </a:rPr>
              <a:t>бюджетное</a:t>
            </a:r>
            <a:r>
              <a:rPr lang="en-US" sz="1800" dirty="0">
                <a:latin typeface="Times New Roman" panose="02020603050405020304" charset="0"/>
              </a:rPr>
              <a:t> </a:t>
            </a:r>
            <a:r>
              <a:rPr lang="en-US" sz="1800" dirty="0" err="1">
                <a:latin typeface="Times New Roman" panose="02020603050405020304" charset="0"/>
              </a:rPr>
              <a:t>образовательное</a:t>
            </a:r>
            <a:r>
              <a:rPr lang="en-US" sz="1800" dirty="0">
                <a:latin typeface="Times New Roman" panose="02020603050405020304" charset="0"/>
              </a:rPr>
              <a:t> </a:t>
            </a:r>
            <a:r>
              <a:rPr lang="en-US" sz="1800" dirty="0" err="1">
                <a:latin typeface="Times New Roman" panose="02020603050405020304" charset="0"/>
              </a:rPr>
              <a:t>учреждение</a:t>
            </a:r>
            <a:endParaRPr lang="en-US" sz="1800" dirty="0">
              <a:latin typeface="Times New Roman" panose="02020603050405020304" charset="0"/>
            </a:endParaRPr>
          </a:p>
          <a:p>
            <a:pPr indent="203200" algn="ctr"/>
            <a:r>
              <a:rPr lang="en-US" sz="1800" dirty="0" err="1">
                <a:latin typeface="Times New Roman" panose="02020603050405020304" charset="0"/>
              </a:rPr>
              <a:t>высшего</a:t>
            </a:r>
            <a:r>
              <a:rPr lang="en-US" sz="1800" dirty="0">
                <a:latin typeface="Times New Roman" panose="02020603050405020304" charset="0"/>
              </a:rPr>
              <a:t> </a:t>
            </a:r>
            <a:r>
              <a:rPr lang="en-US" sz="1800" dirty="0" err="1">
                <a:latin typeface="Times New Roman" panose="02020603050405020304" charset="0"/>
              </a:rPr>
              <a:t>образования</a:t>
            </a:r>
            <a:endParaRPr lang="en-US" sz="1800" b="1" dirty="0">
              <a:latin typeface="Times New Roman" panose="02020603050405020304" charset="0"/>
            </a:endParaRPr>
          </a:p>
          <a:p>
            <a:pPr indent="203200" algn="ctr"/>
            <a:r>
              <a:rPr lang="en-US" sz="1800" b="1" dirty="0">
                <a:latin typeface="Times New Roman" panose="02020603050405020304" charset="0"/>
              </a:rPr>
              <a:t>«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charset="0"/>
              </a:rPr>
              <a:t>МИРЭА – </a:t>
            </a:r>
            <a:r>
              <a:rPr lang="en-US" sz="1800" b="1" dirty="0" err="1">
                <a:solidFill>
                  <a:srgbClr val="000000"/>
                </a:solidFill>
                <a:latin typeface="Times New Roman" panose="02020603050405020304" charset="0"/>
              </a:rPr>
              <a:t>Российский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Times New Roman" panose="02020603050405020304" charset="0"/>
              </a:rPr>
              <a:t>технологический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Times New Roman" panose="02020603050405020304" charset="0"/>
              </a:rPr>
              <a:t>университет</a:t>
            </a:r>
            <a:r>
              <a:rPr lang="en-US" sz="1800" b="1" dirty="0">
                <a:latin typeface="Times New Roman" panose="02020603050405020304" charset="0"/>
              </a:rPr>
              <a:t>»</a:t>
            </a:r>
          </a:p>
          <a:p>
            <a:pPr indent="203200" algn="ctr"/>
            <a:r>
              <a:rPr lang="en-US" sz="1800" b="1" dirty="0">
                <a:latin typeface="Times New Roman" panose="02020603050405020304" charset="0"/>
              </a:rPr>
              <a:t>РТУ МИРЭА</a:t>
            </a:r>
            <a:endParaRPr lang="ru-RU" altLang="en-US" sz="1800" dirty="0"/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2090467" y="3069754"/>
            <a:ext cx="8009483" cy="1815872"/>
          </a:xfrm>
          <a:prstGeom prst="rect">
            <a:avLst/>
          </a:prstGeom>
          <a:noFill/>
          <a:ln w="9525">
            <a:noFill/>
          </a:ln>
        </p:spPr>
        <p:txBody>
          <a:bodyPr wrap="square" lIns="91430" tIns="45715" rIns="91430" bIns="45715">
            <a:spAutoFit/>
          </a:bodyPr>
          <a:lstStyle/>
          <a:p>
            <a:pPr indent="203200" algn="ctr"/>
            <a:r>
              <a:rPr lang="en-US" sz="1800" b="1" dirty="0">
                <a:latin typeface="Times New Roman" panose="02020603050405020304" charset="0"/>
              </a:rPr>
              <a:t>КУРСОВАЯ РАБОТА</a:t>
            </a:r>
            <a:endParaRPr lang="en-US" sz="1800" dirty="0">
              <a:latin typeface="Times New Roman" panose="02020603050405020304" charset="0"/>
            </a:endParaRPr>
          </a:p>
          <a:p>
            <a:pPr indent="203200" algn="ctr"/>
            <a:r>
              <a:rPr lang="en-US" sz="1800" dirty="0" err="1">
                <a:latin typeface="Times New Roman" panose="02020603050405020304" charset="0"/>
                <a:cs typeface="Times New Roman" panose="02020603050405020304" charset="0"/>
              </a:rPr>
              <a:t>по</a:t>
            </a: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800" dirty="0" err="1">
                <a:latin typeface="Times New Roman" panose="02020603050405020304" charset="0"/>
                <a:cs typeface="Times New Roman" panose="02020603050405020304" charset="0"/>
              </a:rPr>
              <a:t>дисциплине</a:t>
            </a: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  <a:p>
            <a:pPr indent="203200" algn="ctr"/>
            <a:r>
              <a:rPr lang="ru-RU" sz="1800" dirty="0" smtClean="0">
                <a:latin typeface="Times New Roman" panose="02020603050405020304" charset="0"/>
                <a:cs typeface="Times New Roman" panose="02020603050405020304" charset="0"/>
              </a:rPr>
              <a:t>Языки программирования для статистической обработки </a:t>
            </a:r>
            <a:r>
              <a:rPr lang="ru-RU" sz="1800" dirty="0">
                <a:latin typeface="Times New Roman" panose="02020603050405020304" charset="0"/>
                <a:cs typeface="Times New Roman" panose="02020603050405020304" charset="0"/>
              </a:rPr>
              <a:t>данных</a:t>
            </a:r>
            <a:endParaRPr lang="en-US" sz="18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203200" algn="ctr"/>
            <a:r>
              <a:rPr lang="en-US" sz="1800" b="1" dirty="0" err="1">
                <a:latin typeface="Times New Roman" panose="02020603050405020304" charset="0"/>
                <a:cs typeface="Times New Roman" panose="02020603050405020304" charset="0"/>
              </a:rPr>
              <a:t>Тема</a:t>
            </a:r>
            <a:r>
              <a:rPr lang="en-US" sz="1800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800" b="1" dirty="0" err="1">
                <a:latin typeface="Times New Roman" panose="02020603050405020304" charset="0"/>
                <a:cs typeface="Times New Roman" panose="02020603050405020304" charset="0"/>
              </a:rPr>
              <a:t>курсовой</a:t>
            </a:r>
            <a:r>
              <a:rPr lang="en-US" sz="1800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800" b="1" dirty="0" err="1">
                <a:latin typeface="Times New Roman" panose="02020603050405020304" charset="0"/>
                <a:cs typeface="Times New Roman" panose="02020603050405020304" charset="0"/>
              </a:rPr>
              <a:t>работы</a:t>
            </a:r>
            <a:r>
              <a:rPr lang="en-US" sz="180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</a:p>
          <a:p>
            <a:pPr indent="203200" algn="ct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пакета для обработки статистических данных на языке программирования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ru-RU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Таблица 14"/>
          <p:cNvGraphicFramePr/>
          <p:nvPr>
            <p:extLst>
              <p:ext uri="{D42A27DB-BD31-4B8C-83A1-F6EECF244321}">
                <p14:modId xmlns:p14="http://schemas.microsoft.com/office/powerpoint/2010/main" val="2451757278"/>
              </p:ext>
            </p:extLst>
          </p:nvPr>
        </p:nvGraphicFramePr>
        <p:xfrm>
          <a:off x="1726342" y="5157986"/>
          <a:ext cx="8737732" cy="605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68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8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2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ru-RU" alt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Выполнил с</a:t>
                      </a:r>
                      <a:r>
                        <a:rPr lang="en-US" sz="18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тудент</a:t>
                      </a: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8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группы</a:t>
                      </a: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800" b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И</a:t>
                      </a:r>
                      <a:r>
                        <a:rPr lang="ru-RU" sz="1800" b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Н</a:t>
                      </a:r>
                      <a:r>
                        <a:rPr lang="en-US" sz="1800" b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БО-0</a:t>
                      </a:r>
                      <a:r>
                        <a:rPr lang="ru-RU" sz="1800" b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r>
                        <a:rPr lang="en-US" sz="1800" b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-1</a:t>
                      </a:r>
                      <a:r>
                        <a:rPr lang="ru-RU" sz="1800" b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9</a:t>
                      </a:r>
                      <a:endParaRPr lang="en-US" altLang="en-US" sz="1800" b="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71" marR="68571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ru-RU" altLang="en-US" sz="1800" b="0" dirty="0" smtClean="0">
                          <a:latin typeface="Times New Roman" panose="0202060305040502030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Аникин</a:t>
                      </a:r>
                      <a:r>
                        <a:rPr lang="ru-RU" altLang="en-US" sz="1800" b="0" baseline="0" dirty="0" smtClean="0">
                          <a:latin typeface="Times New Roman" panose="0202060305040502030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 Артём Сергеевич</a:t>
                      </a:r>
                      <a:endParaRPr lang="en-US" altLang="en-US" sz="1800" b="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71" marR="68571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/>
          <p:nvPr/>
        </p:nvGraphicFramePr>
        <p:xfrm>
          <a:off x="1725706" y="5878066"/>
          <a:ext cx="8739004" cy="5957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69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9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5769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Руководитель</a:t>
                      </a: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8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курсовой</a:t>
                      </a: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800" b="0" dirty="0" err="1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работы</a:t>
                      </a:r>
                      <a:endParaRPr lang="en-US" altLang="en-US" sz="1800" b="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71" marR="68571" marT="0" marB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800" b="0" dirty="0" err="1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Митина</a:t>
                      </a:r>
                      <a:r>
                        <a:rPr lang="en-US" sz="1800" b="0" dirty="0" smtClean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8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Ольга</a:t>
                      </a:r>
                      <a:r>
                        <a:rPr lang="en-US" sz="1800" b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800" b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Алексеевна</a:t>
                      </a:r>
                      <a:endParaRPr lang="en-US" altLang="en-US" sz="1800" b="0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71" marR="68571" marT="0" marB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6400" dirty="0"/>
              <a:t>Постановка задачи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609521" y="1935928"/>
            <a:ext cx="10796968" cy="439013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40000"/>
              </a:lnSpc>
              <a:spcBef>
                <a:spcPts val="800"/>
              </a:spcBef>
              <a:buNone/>
            </a:pPr>
            <a:r>
              <a:rPr lang="ru-RU" sz="4400" b="1" dirty="0">
                <a:ea typeface="Source Sans Pro Black" panose="020B0604020202020204" charset="0"/>
              </a:rPr>
              <a:t>Цель</a:t>
            </a:r>
            <a:r>
              <a:rPr lang="ru-RU" sz="3900" b="1" dirty="0">
                <a:ea typeface="Source Sans Pro light" panose="020B0604020202020204" charset="0"/>
                <a:cs typeface="Source Sans Pro light" panose="020B0604020202020204" charset="0"/>
              </a:rPr>
              <a:t>:</a:t>
            </a:r>
            <a:r>
              <a:rPr lang="ru-RU" sz="3900" dirty="0">
                <a:ea typeface="Source Sans Pro light" panose="020B0604020202020204" charset="0"/>
                <a:cs typeface="Source Sans Pro light" panose="020B0604020202020204" charset="0"/>
              </a:rPr>
              <a:t> </a:t>
            </a:r>
            <a:r>
              <a:rPr lang="ru-RU" sz="3900" dirty="0" smtClean="0">
                <a:ea typeface="Source Sans Pro light" panose="020B0604020202020204" charset="0"/>
                <a:cs typeface="Source Sans Pro light" panose="020B0604020202020204" charset="0"/>
              </a:rPr>
              <a:t> </a:t>
            </a:r>
            <a:r>
              <a:rPr lang="ru-RU" sz="2400" dirty="0"/>
              <a:t>создание пакета для обработки статистических данных на языке программирования </a:t>
            </a:r>
            <a:r>
              <a:rPr lang="en-US" sz="2400" dirty="0"/>
              <a:t>R</a:t>
            </a:r>
            <a:r>
              <a:rPr lang="ru-RU" sz="2400" dirty="0" smtClean="0"/>
              <a:t>.</a:t>
            </a:r>
          </a:p>
          <a:p>
            <a:pPr marL="0" indent="0">
              <a:lnSpc>
                <a:spcPct val="140000"/>
              </a:lnSpc>
              <a:spcBef>
                <a:spcPts val="800"/>
              </a:spcBef>
              <a:buNone/>
            </a:pPr>
            <a:r>
              <a:rPr lang="ru-RU" sz="3900" b="1" dirty="0" smtClean="0">
                <a:ea typeface="Source Sans Pro Black" panose="020B0604020202020204" charset="0"/>
              </a:rPr>
              <a:t>Задачи</a:t>
            </a:r>
            <a:r>
              <a:rPr lang="ru-RU" sz="3900" b="1" dirty="0">
                <a:ea typeface="Source Sans Pro Black" panose="020B0604020202020204" charset="0"/>
              </a:rPr>
              <a:t>:</a:t>
            </a:r>
          </a:p>
          <a:p>
            <a:pPr lvl="0"/>
            <a:r>
              <a:rPr lang="ru-RU" sz="2400" dirty="0"/>
              <a:t>изучение научной и методической литературы по проблеме обработки данных;</a:t>
            </a:r>
          </a:p>
          <a:p>
            <a:pPr lvl="0"/>
            <a:r>
              <a:rPr lang="ru-RU" sz="2400" dirty="0"/>
              <a:t>определение списка функций, которые будут реализованы в пакете;</a:t>
            </a:r>
          </a:p>
          <a:p>
            <a:pPr lvl="0"/>
            <a:r>
              <a:rPr lang="ru-RU" sz="2400" dirty="0"/>
              <a:t>создание пакета на языке программирования </a:t>
            </a:r>
            <a:r>
              <a:rPr lang="en-US" sz="2400" dirty="0"/>
              <a:t>R</a:t>
            </a:r>
            <a:r>
              <a:rPr lang="ru-RU" sz="2400" dirty="0"/>
              <a:t>;</a:t>
            </a:r>
          </a:p>
          <a:p>
            <a:pPr lvl="0"/>
            <a:r>
              <a:rPr lang="ru-RU" sz="2400" dirty="0"/>
              <a:t>создание документации для разработанного пакета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pic>
        <p:nvPicPr>
          <p:cNvPr id="5" name="Picture 8" descr="https://upload.wikimedia.org/wikipedia/commons/9/93/MIREA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117" y="1"/>
            <a:ext cx="1391296" cy="139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800" dirty="0" smtClean="0"/>
              <a:t>Алгоритм создания пакета</a:t>
            </a:r>
            <a:endParaRPr lang="ru-RU" sz="5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Определение списка задач, решаемых пакетом.</a:t>
            </a:r>
          </a:p>
          <a:p>
            <a:r>
              <a:rPr lang="ru-RU" dirty="0" smtClean="0"/>
              <a:t>Создание иерархии файлов и заполнение их.</a:t>
            </a:r>
          </a:p>
          <a:p>
            <a:r>
              <a:rPr lang="ru-RU" dirty="0" smtClean="0"/>
              <a:t>Написание и тестирование программного кода.</a:t>
            </a:r>
          </a:p>
          <a:p>
            <a:r>
              <a:rPr lang="ru-RU" dirty="0" smtClean="0"/>
              <a:t>Загрузка готового пакета на </a:t>
            </a:r>
            <a:r>
              <a:rPr lang="en-US" dirty="0" err="1" smtClean="0"/>
              <a:t>github</a:t>
            </a:r>
            <a:r>
              <a:rPr lang="ru-RU" dirty="0" smtClean="0"/>
              <a:t>.</a:t>
            </a:r>
          </a:p>
        </p:txBody>
      </p:sp>
      <p:pic>
        <p:nvPicPr>
          <p:cNvPr id="4" name="Picture 8" descr="https://upload.wikimedia.org/wikipedia/commons/9/93/MIREA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117" y="1"/>
            <a:ext cx="1391296" cy="139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38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800" dirty="0" smtClean="0"/>
              <a:t>Определение списка задач</a:t>
            </a:r>
            <a:endParaRPr lang="ru-RU" sz="5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3600" dirty="0" smtClean="0"/>
              <a:t>Основные показатели описательной статистики:</a:t>
            </a:r>
          </a:p>
          <a:p>
            <a:r>
              <a:rPr lang="ru-RU" sz="3600" dirty="0" smtClean="0"/>
              <a:t>среднее значение;</a:t>
            </a:r>
          </a:p>
          <a:p>
            <a:r>
              <a:rPr lang="ru-RU" sz="3600" dirty="0"/>
              <a:t>м</a:t>
            </a:r>
            <a:r>
              <a:rPr lang="ru-RU" sz="3600" dirty="0" smtClean="0"/>
              <a:t>едиана;</a:t>
            </a:r>
          </a:p>
          <a:p>
            <a:r>
              <a:rPr lang="ru-RU" sz="3600" dirty="0" smtClean="0"/>
              <a:t>мода;</a:t>
            </a:r>
            <a:endParaRPr lang="ru-RU" sz="3600" dirty="0"/>
          </a:p>
          <a:p>
            <a:r>
              <a:rPr lang="ru-RU" sz="3600" dirty="0" smtClean="0"/>
              <a:t>разброс </a:t>
            </a:r>
            <a:r>
              <a:rPr lang="ru-RU" sz="3600" dirty="0"/>
              <a:t>(диапазон разброса </a:t>
            </a:r>
            <a:r>
              <a:rPr lang="ru-RU" sz="3600" dirty="0" smtClean="0"/>
              <a:t>данных);</a:t>
            </a:r>
          </a:p>
          <a:p>
            <a:r>
              <a:rPr lang="ru-RU" sz="3600" dirty="0"/>
              <a:t>д</a:t>
            </a:r>
            <a:r>
              <a:rPr lang="ru-RU" sz="3600" dirty="0" smtClean="0"/>
              <a:t>исперсия;</a:t>
            </a:r>
          </a:p>
          <a:p>
            <a:r>
              <a:rPr lang="ru-RU" sz="3600" dirty="0"/>
              <a:t>о</a:t>
            </a:r>
            <a:r>
              <a:rPr lang="ru-RU" sz="3600" dirty="0" smtClean="0"/>
              <a:t>тклонение;</a:t>
            </a:r>
          </a:p>
          <a:p>
            <a:r>
              <a:rPr lang="ru-RU" sz="3600" dirty="0"/>
              <a:t>к</a:t>
            </a:r>
            <a:r>
              <a:rPr lang="ru-RU" sz="3600" dirty="0" smtClean="0"/>
              <a:t>вартили;</a:t>
            </a:r>
          </a:p>
          <a:p>
            <a:r>
              <a:rPr lang="ru-RU" sz="3600" dirty="0" smtClean="0"/>
              <a:t>доверительный </a:t>
            </a:r>
            <a:r>
              <a:rPr lang="ru-RU" sz="3600" dirty="0"/>
              <a:t>интервал.</a:t>
            </a:r>
            <a:endParaRPr lang="ru-RU" dirty="0"/>
          </a:p>
        </p:txBody>
      </p:sp>
      <p:pic>
        <p:nvPicPr>
          <p:cNvPr id="4" name="Picture 8" descr="https://upload.wikimedia.org/wikipedia/commons/9/93/MIREA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117" y="1"/>
            <a:ext cx="1391296" cy="139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4566" y="820168"/>
            <a:ext cx="10971372" cy="1143265"/>
          </a:xfrm>
        </p:spPr>
        <p:txBody>
          <a:bodyPr>
            <a:normAutofit/>
          </a:bodyPr>
          <a:lstStyle/>
          <a:p>
            <a:pPr algn="ctr"/>
            <a:r>
              <a:rPr lang="ru-RU" sz="6000" dirty="0" smtClean="0"/>
              <a:t>Создание </a:t>
            </a:r>
            <a:r>
              <a:rPr lang="ru-RU" sz="6000" dirty="0"/>
              <a:t>иерархии файлов</a:t>
            </a:r>
            <a:endParaRPr lang="ru-RU" sz="5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Файл </a:t>
            </a:r>
            <a:r>
              <a:rPr lang="en-US" dirty="0" smtClean="0"/>
              <a:t>DESCRIPTION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 smtClean="0"/>
              <a:t>Файл </a:t>
            </a:r>
            <a:r>
              <a:rPr lang="en-US" dirty="0" smtClean="0"/>
              <a:t>NAMESPACE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 smtClean="0"/>
              <a:t>Директория «</a:t>
            </a:r>
            <a:r>
              <a:rPr lang="en-US" dirty="0" smtClean="0"/>
              <a:t>R</a:t>
            </a:r>
            <a:r>
              <a:rPr lang="ru-RU" dirty="0" smtClean="0"/>
              <a:t>».</a:t>
            </a:r>
            <a:endParaRPr lang="ru-RU" dirty="0"/>
          </a:p>
        </p:txBody>
      </p:sp>
      <p:pic>
        <p:nvPicPr>
          <p:cNvPr id="4" name="Picture 8" descr="https://upload.wikimedia.org/wikipedia/commons/9/93/MIREA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117" y="1"/>
            <a:ext cx="1391296" cy="139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08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800" dirty="0" smtClean="0"/>
              <a:t>Файл «</a:t>
            </a:r>
            <a:r>
              <a:rPr lang="en-US" sz="5800" dirty="0" smtClean="0"/>
              <a:t>DESCRIPTION</a:t>
            </a:r>
            <a:r>
              <a:rPr lang="ru-RU" sz="5800" dirty="0" smtClean="0"/>
              <a:t>»</a:t>
            </a:r>
            <a:endParaRPr lang="ru-RU" sz="5800" dirty="0"/>
          </a:p>
        </p:txBody>
      </p:sp>
      <p:pic>
        <p:nvPicPr>
          <p:cNvPr id="4" name="Picture 8" descr="https://upload.wikimedia.org/wikipedia/commons/9/93/MIREA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117" y="1"/>
            <a:ext cx="1391296" cy="139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Объект 4" descr="https://sun9-56.userapi.com/impg/0TojhRi2j4HhOtm8pAPpiKzRHFL4WZBEYrYYTA/tQf7Wm5B3sA.jpg?size=1058x365&amp;quality=96&amp;sign=237a327ebe159b09a443b0b663b48dd1&amp;type=album"/>
          <p:cNvPicPr>
            <a:picLocks noGrp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02" y="1847174"/>
            <a:ext cx="10524410" cy="40214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7832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94707" y="1847516"/>
            <a:ext cx="9001000" cy="4750782"/>
          </a:xfrm>
          <a:prstGeom prst="rect">
            <a:avLst/>
          </a:prstGeom>
        </p:spPr>
      </p:pic>
      <p:pic>
        <p:nvPicPr>
          <p:cNvPr id="4" name="Picture 8" descr="https://upload.wikimedia.org/wikipedia/commons/9/93/MIREA_logo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117" y="1"/>
            <a:ext cx="1391296" cy="139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5800" dirty="0" smtClean="0"/>
              <a:t>Пример оформления исходного кода функции</a:t>
            </a:r>
            <a:endParaRPr lang="ru-RU" sz="5800" dirty="0"/>
          </a:p>
        </p:txBody>
      </p:sp>
    </p:spTree>
    <p:extLst>
      <p:ext uri="{BB962C8B-B14F-4D97-AF65-F5344CB8AC3E}">
        <p14:creationId xmlns:p14="http://schemas.microsoft.com/office/powerpoint/2010/main" val="299514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8583" y="477467"/>
            <a:ext cx="5760640" cy="4032448"/>
          </a:xfrm>
        </p:spPr>
        <p:txBody>
          <a:bodyPr>
            <a:normAutofit/>
          </a:bodyPr>
          <a:lstStyle/>
          <a:p>
            <a:r>
              <a:rPr lang="ru-RU" sz="7200" dirty="0" smtClean="0"/>
              <a:t>Вызов документации функции</a:t>
            </a:r>
            <a:endParaRPr lang="ru-RU" dirty="0"/>
          </a:p>
        </p:txBody>
      </p:sp>
      <p:pic>
        <p:nvPicPr>
          <p:cNvPr id="4" name="Объект 3" descr="C:\Users\Ортём\Desktop\док.jpg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238" y="261442"/>
            <a:ext cx="4569742" cy="64443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32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Тестирование функций</a:t>
            </a:r>
            <a:endParaRPr lang="ru-RU" dirty="0"/>
          </a:p>
        </p:txBody>
      </p:sp>
      <p:pic>
        <p:nvPicPr>
          <p:cNvPr id="4" name="Объект 3" descr="https://sun9-49.userapi.com/impg/OPEHpw69ZfKcQzF4CKyz8AkEwqg8bKIFb15t6Q/3mMusoOfYCY.jpg?size=1101x154&amp;quality=96&amp;sign=00ad8c86300a31dc9dfaf8de4bfc16c6&amp;type=album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771" y="5596091"/>
            <a:ext cx="9152904" cy="1090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771" y="1847516"/>
            <a:ext cx="8592749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375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Загрузка пакета на </a:t>
            </a:r>
            <a:r>
              <a:rPr lang="en-US" dirty="0" err="1" smtClean="0"/>
              <a:t>github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Загрузить с </a:t>
            </a:r>
            <a:r>
              <a:rPr lang="en-US" dirty="0" err="1" smtClean="0"/>
              <a:t>github</a:t>
            </a:r>
            <a:r>
              <a:rPr lang="ru-RU" dirty="0" smtClean="0"/>
              <a:t>: </a:t>
            </a:r>
            <a:r>
              <a:rPr lang="en-US" dirty="0" smtClean="0"/>
              <a:t>«</a:t>
            </a:r>
            <a:r>
              <a:rPr lang="en-US" dirty="0" err="1" smtClean="0"/>
              <a:t>devtools</a:t>
            </a:r>
            <a:r>
              <a:rPr lang="en-US" dirty="0"/>
              <a:t>::</a:t>
            </a:r>
            <a:r>
              <a:rPr lang="en-US" dirty="0" err="1" smtClean="0"/>
              <a:t>install_github</a:t>
            </a:r>
            <a:r>
              <a:rPr lang="en-US" dirty="0" smtClean="0"/>
              <a:t>(</a:t>
            </a:r>
            <a:r>
              <a:rPr lang="ru-RU" dirty="0" smtClean="0"/>
              <a:t>ссылка)»</a:t>
            </a:r>
          </a:p>
          <a:p>
            <a:pPr marL="0" indent="0">
              <a:buNone/>
            </a:pPr>
            <a:r>
              <a:rPr lang="ru-RU" dirty="0" smtClean="0"/>
              <a:t>Проверить установлен ли: </a:t>
            </a:r>
            <a:r>
              <a:rPr lang="ru-RU" sz="3600" dirty="0"/>
              <a:t>«</a:t>
            </a:r>
            <a:r>
              <a:rPr lang="en-US" sz="3600" dirty="0"/>
              <a:t>installed</a:t>
            </a:r>
            <a:r>
              <a:rPr lang="ru-RU" sz="3600" dirty="0"/>
              <a:t>.</a:t>
            </a:r>
            <a:r>
              <a:rPr lang="en-US" sz="3600" dirty="0"/>
              <a:t>packages</a:t>
            </a:r>
            <a:r>
              <a:rPr lang="ru-RU" sz="3600" dirty="0" smtClean="0"/>
              <a:t>()»</a:t>
            </a:r>
          </a:p>
        </p:txBody>
      </p:sp>
    </p:spTree>
    <p:extLst>
      <p:ext uri="{BB962C8B-B14F-4D97-AF65-F5344CB8AC3E}">
        <p14:creationId xmlns:p14="http://schemas.microsoft.com/office/powerpoint/2010/main" val="1563929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работы функции</a:t>
            </a:r>
            <a:endParaRPr lang="ru-RU" dirty="0"/>
          </a:p>
        </p:txBody>
      </p:sp>
      <p:pic>
        <p:nvPicPr>
          <p:cNvPr id="4" name="Объект 3" descr="https://sun9-60.userapi.com/impg/RCaBrJdQ3glyNreQPmYCzrbSTIpaw6j0vREMlw/_1BCo9bKd1M.jpg?size=1160x214&amp;quality=96&amp;sign=69f3ae703cb7b01ed691361f6eaf49dc&amp;type=album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118676"/>
            <a:ext cx="10971213" cy="2023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4549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800" dirty="0"/>
              <a:t>Выводы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Язык программирования </a:t>
            </a:r>
            <a:r>
              <a:rPr lang="en-US" dirty="0"/>
              <a:t>R</a:t>
            </a:r>
            <a:r>
              <a:rPr lang="ru-RU" dirty="0"/>
              <a:t> создавался специально для анализа данных, поэтому многие функции для анализа данных являются встроенными. </a:t>
            </a:r>
            <a:endParaRPr lang="ru-RU" dirty="0" smtClean="0"/>
          </a:p>
          <a:p>
            <a:r>
              <a:rPr lang="ru-RU" dirty="0" smtClean="0"/>
              <a:t>Сфера </a:t>
            </a:r>
            <a:r>
              <a:rPr lang="ru-RU" dirty="0"/>
              <a:t>применения языка </a:t>
            </a:r>
            <a:r>
              <a:rPr lang="ru-RU" dirty="0" smtClean="0"/>
              <a:t>только </a:t>
            </a:r>
            <a:r>
              <a:rPr lang="ru-RU" dirty="0"/>
              <a:t>растет. </a:t>
            </a:r>
            <a:endParaRPr lang="ru-RU" dirty="0" smtClean="0"/>
          </a:p>
          <a:p>
            <a:r>
              <a:rPr lang="ru-RU" dirty="0" smtClean="0"/>
              <a:t>Одни пакеты можно использовать при разработке других</a:t>
            </a:r>
            <a:endParaRPr lang="ru-RU" dirty="0"/>
          </a:p>
        </p:txBody>
      </p:sp>
      <p:pic>
        <p:nvPicPr>
          <p:cNvPr id="4" name="Picture 8" descr="https://upload.wikimedia.org/wikipedia/commons/9/93/MIREA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117" y="1"/>
            <a:ext cx="1391296" cy="139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885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9309" y="477224"/>
            <a:ext cx="10971372" cy="914577"/>
          </a:xfrm>
        </p:spPr>
        <p:txBody>
          <a:bodyPr>
            <a:normAutofit fontScale="90000"/>
          </a:bodyPr>
          <a:lstStyle/>
          <a:p>
            <a:pPr algn="ctr"/>
            <a:r>
              <a:rPr lang="ru-RU" sz="6400" dirty="0" smtClean="0"/>
              <a:t>Заключение</a:t>
            </a:r>
            <a:endParaRPr lang="ru-RU" sz="6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9596" y="1437001"/>
            <a:ext cx="10971372" cy="5161880"/>
          </a:xfrm>
        </p:spPr>
        <p:txBody>
          <a:bodyPr>
            <a:normAutofit fontScale="85000" lnSpcReduction="20000"/>
          </a:bodyPr>
          <a:lstStyle/>
          <a:p>
            <a:pPr marL="0" indent="446088">
              <a:buNone/>
            </a:pPr>
            <a:r>
              <a:rPr lang="ru-RU" dirty="0" smtClean="0"/>
              <a:t>В </a:t>
            </a:r>
            <a:r>
              <a:rPr lang="ru-RU" dirty="0"/>
              <a:t>результате выполнения данной курсовой работы создан пакет для обработки данных на языке программирования </a:t>
            </a:r>
            <a:r>
              <a:rPr lang="en-US" dirty="0"/>
              <a:t>R</a:t>
            </a:r>
            <a:r>
              <a:rPr lang="ru-RU" dirty="0" smtClean="0"/>
              <a:t>.</a:t>
            </a:r>
            <a:endParaRPr lang="ru-RU" sz="3600" dirty="0" smtClean="0"/>
          </a:p>
          <a:p>
            <a:pPr marL="0" indent="446088">
              <a:buNone/>
            </a:pPr>
            <a:r>
              <a:rPr lang="ru-RU" dirty="0" smtClean="0"/>
              <a:t>Цель курсовой работы </a:t>
            </a:r>
            <a:r>
              <a:rPr lang="ru-RU" sz="3600" dirty="0"/>
              <a:t>– </a:t>
            </a:r>
            <a:r>
              <a:rPr lang="ru-RU" sz="3600" dirty="0" smtClean="0"/>
              <a:t>создание </a:t>
            </a:r>
            <a:r>
              <a:rPr lang="ru-RU" sz="3600" dirty="0"/>
              <a:t>пакета для обработки статистических данных на языке программирования </a:t>
            </a:r>
            <a:r>
              <a:rPr lang="en-US" sz="3600" dirty="0" smtClean="0"/>
              <a:t>R</a:t>
            </a:r>
            <a:r>
              <a:rPr lang="ru-RU" sz="3600" dirty="0"/>
              <a:t> </a:t>
            </a:r>
            <a:r>
              <a:rPr lang="ru-RU" sz="3600" dirty="0" smtClean="0"/>
              <a:t>– достигнута.</a:t>
            </a:r>
            <a:endParaRPr lang="ru-RU" sz="3600" dirty="0"/>
          </a:p>
          <a:p>
            <a:pPr marL="0" indent="0">
              <a:buNone/>
            </a:pPr>
            <a:r>
              <a:rPr lang="ru-RU" dirty="0" smtClean="0"/>
              <a:t>Выполнены следующие задачи:</a:t>
            </a:r>
          </a:p>
          <a:p>
            <a:pPr lvl="0"/>
            <a:r>
              <a:rPr lang="ru-RU" dirty="0"/>
              <a:t>изучение научной и методической литературы по проблеме обработки данных;</a:t>
            </a:r>
          </a:p>
          <a:p>
            <a:pPr lvl="0"/>
            <a:r>
              <a:rPr lang="ru-RU" dirty="0"/>
              <a:t>определение списка функций, которые будут реализованы в пакете;</a:t>
            </a:r>
          </a:p>
          <a:p>
            <a:pPr lvl="0"/>
            <a:r>
              <a:rPr lang="ru-RU" dirty="0"/>
              <a:t>создание пакета на языке программирования </a:t>
            </a:r>
            <a:r>
              <a:rPr lang="en-US" dirty="0"/>
              <a:t>R</a:t>
            </a:r>
            <a:r>
              <a:rPr lang="ru-RU" dirty="0"/>
              <a:t>;</a:t>
            </a:r>
          </a:p>
          <a:p>
            <a:pPr lvl="0"/>
            <a:r>
              <a:rPr lang="ru-RU" dirty="0"/>
              <a:t>создание документации для разработанного пакета.</a:t>
            </a:r>
          </a:p>
          <a:p>
            <a:pPr marL="0" indent="0">
              <a:buNone/>
            </a:pPr>
            <a:endParaRPr lang="ru-RU" sz="2400" dirty="0"/>
          </a:p>
          <a:p>
            <a:endParaRPr lang="ru-RU" sz="2400" dirty="0"/>
          </a:p>
        </p:txBody>
      </p:sp>
      <p:pic>
        <p:nvPicPr>
          <p:cNvPr id="4" name="Picture 8" descr="https://upload.wikimedia.org/wikipedia/commons/9/93/MIREA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117" y="1"/>
            <a:ext cx="1391296" cy="139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9309" y="2565498"/>
            <a:ext cx="10361851" cy="1362771"/>
          </a:xfrm>
        </p:spPr>
        <p:txBody>
          <a:bodyPr/>
          <a:lstStyle/>
          <a:p>
            <a:pPr algn="ctr"/>
            <a:r>
              <a:rPr lang="ru-RU" sz="6400" dirty="0"/>
              <a:t>Спасибо за внимание!</a:t>
            </a:r>
          </a:p>
        </p:txBody>
      </p:sp>
      <p:pic>
        <p:nvPicPr>
          <p:cNvPr id="4" name="Picture 8" descr="https://upload.wikimedia.org/wikipedia/commons/9/93/MIREA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117" y="1"/>
            <a:ext cx="1391296" cy="139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448</TotalTime>
  <Words>1366</Words>
  <Application>Microsoft Office PowerPoint</Application>
  <PresentationFormat>Произвольный</PresentationFormat>
  <Paragraphs>126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2" baseType="lpstr">
      <vt:lpstr>Calibri</vt:lpstr>
      <vt:lpstr>Cambria Math</vt:lpstr>
      <vt:lpstr>Constantia</vt:lpstr>
      <vt:lpstr>Source Sans Pro Black</vt:lpstr>
      <vt:lpstr>Source Sans Pro light</vt:lpstr>
      <vt:lpstr>Times New Roman</vt:lpstr>
      <vt:lpstr>Wingdings 2</vt:lpstr>
      <vt:lpstr>Поток</vt:lpstr>
      <vt:lpstr>Презентация PowerPoint</vt:lpstr>
      <vt:lpstr>Постановка задачи</vt:lpstr>
      <vt:lpstr>Алгоритм создания пакета</vt:lpstr>
      <vt:lpstr>Определение списка задач</vt:lpstr>
      <vt:lpstr>Создание иерархии файлов</vt:lpstr>
      <vt:lpstr>Файл «DESCRIPTION»</vt:lpstr>
      <vt:lpstr>Пример оформления исходного кода функции</vt:lpstr>
      <vt:lpstr>Вызов документации функции</vt:lpstr>
      <vt:lpstr>Тестирование функций</vt:lpstr>
      <vt:lpstr>Загрузка пакета на github</vt:lpstr>
      <vt:lpstr>Пример работы функции</vt:lpstr>
      <vt:lpstr>Выводы</vt:lpstr>
      <vt:lpstr>Заключение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Кластеризация</dc:title>
  <dc:creator>нарекян Гоша</dc:creator>
  <cp:lastModifiedBy>Ортём</cp:lastModifiedBy>
  <cp:revision>109</cp:revision>
  <dcterms:created xsi:type="dcterms:W3CDTF">2020-11-22T16:04:00Z</dcterms:created>
  <dcterms:modified xsi:type="dcterms:W3CDTF">2021-06-07T13:44:14Z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1049-11.2.0.9984</vt:lpwstr>
  </property>
</Properties>
</file>